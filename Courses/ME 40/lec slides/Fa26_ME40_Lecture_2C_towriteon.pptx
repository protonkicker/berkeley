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30"/>
  </p:notesMasterIdLst>
  <p:sldIdLst>
    <p:sldId id="261" r:id="rId2"/>
    <p:sldId id="333" r:id="rId3"/>
    <p:sldId id="313" r:id="rId4"/>
    <p:sldId id="353" r:id="rId5"/>
    <p:sldId id="393" r:id="rId6"/>
    <p:sldId id="359" r:id="rId7"/>
    <p:sldId id="358" r:id="rId8"/>
    <p:sldId id="394" r:id="rId9"/>
    <p:sldId id="396" r:id="rId10"/>
    <p:sldId id="357" r:id="rId11"/>
    <p:sldId id="368" r:id="rId12"/>
    <p:sldId id="377" r:id="rId13"/>
    <p:sldId id="370" r:id="rId14"/>
    <p:sldId id="375" r:id="rId15"/>
    <p:sldId id="376" r:id="rId16"/>
    <p:sldId id="373" r:id="rId17"/>
    <p:sldId id="366" r:id="rId18"/>
    <p:sldId id="381" r:id="rId19"/>
    <p:sldId id="395" r:id="rId20"/>
    <p:sldId id="382" r:id="rId21"/>
    <p:sldId id="385" r:id="rId22"/>
    <p:sldId id="372" r:id="rId23"/>
    <p:sldId id="325" r:id="rId24"/>
    <p:sldId id="384" r:id="rId25"/>
    <p:sldId id="380" r:id="rId26"/>
    <p:sldId id="392" r:id="rId27"/>
    <p:sldId id="321" r:id="rId28"/>
    <p:sldId id="364" r:id="rId29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DCCE"/>
    <a:srgbClr val="EFF8F7"/>
    <a:srgbClr val="012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3" autoAdjust="0"/>
    <p:restoredTop sz="83709" autoAdjust="0"/>
  </p:normalViewPr>
  <p:slideViewPr>
    <p:cSldViewPr snapToGrid="0">
      <p:cViewPr varScale="1">
        <p:scale>
          <a:sx n="122" d="100"/>
          <a:sy n="122" d="100"/>
        </p:scale>
        <p:origin x="117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Remarks: </a:t>
            </a:r>
          </a:p>
          <a:p>
            <a:r>
              <a:rPr lang="en-US" dirty="0"/>
              <a:t>Practice exam CBTF</a:t>
            </a:r>
          </a:p>
          <a:p>
            <a:r>
              <a:rPr lang="en-US" dirty="0"/>
              <a:t>Project</a:t>
            </a:r>
          </a:p>
          <a:p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45584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dependence </a:t>
            </a:r>
          </a:p>
          <a:p>
            <a:r>
              <a:rPr lang="en-US" dirty="0"/>
              <a:t>First law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54143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1CA6-4F4A-7156-7A80-97671244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A7C09-6AE8-A1E4-5B71-92255DB6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AB9B1-CEDC-07B5-5C7D-C85ED1255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dependence </a:t>
            </a:r>
          </a:p>
          <a:p>
            <a:r>
              <a:rPr lang="en-US" dirty="0"/>
              <a:t>First law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26568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conventions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4220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2400, 2200, 3200, 3400, 2900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03962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is the work extracted during a process of isochoric heating in a cylinder from state 1 to state 2:
https://www.polleverywhere.com/multiple_choice_polls/aFYT8fikc9ZQaEIV0HxUE?state=opened&amp;flow=Default&amp;onscreen=persist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DC389-2E04-BB8F-E977-EEEFBF8C7F5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76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Heater: depending on the heating, electrical, thermal</a:t>
            </a:r>
          </a:p>
          <a:p>
            <a:r>
              <a:rPr lang="en-US" dirty="0"/>
              <a:t>Solar cell, IC engine, El. Motor,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75707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is the efficiency of this device? Give a formula and value.
https://www.polleverywhere.com/free_text_polls/HbVIUakbdu5zGc6SZBpgv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54676-E396-AD34-751B-24B625C58E5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6555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components of air condensing at different temperatures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589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08668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 will remain constant during phase change process</a:t>
            </a:r>
          </a:p>
          <a:p>
            <a:r>
              <a:rPr lang="en-US" dirty="0"/>
              <a:t>Large increase in the volume will occur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40331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process from before</a:t>
            </a:r>
          </a:p>
          <a:p>
            <a:r>
              <a:rPr lang="en-US" dirty="0"/>
              <a:t>Heat of vaporization</a:t>
            </a:r>
          </a:p>
          <a:p>
            <a:r>
              <a:rPr lang="en-US" dirty="0"/>
              <a:t>Explain diagram: </a:t>
            </a:r>
          </a:p>
          <a:p>
            <a:r>
              <a:rPr lang="en-US" dirty="0"/>
              <a:t>Dome lines</a:t>
            </a:r>
          </a:p>
          <a:p>
            <a:r>
              <a:rPr lang="en-US" dirty="0"/>
              <a:t>Regions</a:t>
            </a:r>
          </a:p>
          <a:p>
            <a:r>
              <a:rPr lang="en-US" dirty="0"/>
              <a:t>How do isobars run in this diagram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12898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illustration</a:t>
            </a:r>
          </a:p>
          <a:p>
            <a:r>
              <a:rPr lang="en-US" dirty="0"/>
              <a:t>Explain diagram</a:t>
            </a:r>
          </a:p>
          <a:p>
            <a:r>
              <a:rPr lang="en-US" dirty="0"/>
              <a:t>Explain how the isotherms run in this diagram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53238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50651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1DD3-690E-76DC-FC5A-6C621A6AB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060844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3E1FC-F77D-DB6D-1C17-C03EA612B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02219"/>
            <a:ext cx="6858000" cy="204113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09F9-33CC-B0D1-D748-4AE5894F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B14B-4F41-4B32-8CD6-B3115E6CEEA6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D852-A5D9-80C7-339A-44DFCA26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602F-89E4-7E31-D32D-30062DDF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1EB3919-A731-05C7-34D1-9E0AF3B094F6}"/>
              </a:ext>
            </a:extLst>
          </p:cNvPr>
          <p:cNvSpPr txBox="1">
            <a:spLocks/>
          </p:cNvSpPr>
          <p:nvPr userDrawn="1"/>
        </p:nvSpPr>
        <p:spPr>
          <a:xfrm>
            <a:off x="3028950" y="3744368"/>
            <a:ext cx="3086101" cy="351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 sz="1800" dirty="0"/>
              <a:t>Prof. Claudio Hail (he/him)</a:t>
            </a:r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89629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C8DB80-57C3-3D0B-0FF6-71FCA8B81AE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650" y="1134657"/>
            <a:ext cx="3869931" cy="3497668"/>
          </a:xfrm>
        </p:spPr>
        <p:txBody>
          <a:bodyPr/>
          <a:lstStyle>
            <a:lvl1pPr>
              <a:buClr>
                <a:srgbClr val="012576"/>
              </a:buClr>
              <a:defRPr sz="2000"/>
            </a:lvl1pPr>
            <a:lvl2pPr>
              <a:buClr>
                <a:srgbClr val="012576"/>
              </a:buClr>
              <a:defRPr sz="1800"/>
            </a:lvl2pPr>
            <a:lvl3pPr>
              <a:buClr>
                <a:srgbClr val="012576"/>
              </a:buClr>
              <a:defRPr sz="1600"/>
            </a:lvl3pPr>
            <a:lvl4pPr>
              <a:buClr>
                <a:srgbClr val="012576"/>
              </a:buClr>
              <a:defRPr sz="1400"/>
            </a:lvl4pPr>
            <a:lvl5pPr>
              <a:buClr>
                <a:srgbClr val="01257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A5B5C-CEC4-1DA0-DCBC-865653E1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79A6-E1AD-6D7C-8C15-18609E1D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A2A4-1D6C-4DAD-BC97-EFE50B44F408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47F07-361E-26FF-0F4D-2D65EFC4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08A9E-19CB-F85C-DB95-7E82DC6C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062748-323B-4D6C-AC7C-BB22E8E5A4F9}" type="slidenum">
              <a:rPr lang="LID4096" smtClean="0"/>
              <a:pPr/>
              <a:t>‹#›</a:t>
            </a:fld>
            <a:endParaRPr lang="LID4096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41F321-7B94-8DE4-832E-FE9E94D9B0C7}"/>
              </a:ext>
            </a:extLst>
          </p:cNvPr>
          <p:cNvCxnSpPr>
            <a:cxnSpLocks/>
          </p:cNvCxnSpPr>
          <p:nvPr userDrawn="1"/>
        </p:nvCxnSpPr>
        <p:spPr>
          <a:xfrm>
            <a:off x="628650" y="1048863"/>
            <a:ext cx="7886700" cy="0"/>
          </a:xfrm>
          <a:prstGeom prst="line">
            <a:avLst/>
          </a:prstGeom>
          <a:ln w="31750">
            <a:solidFill>
              <a:srgbClr val="01257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47DBA-9573-B629-A60C-D05B10C871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45418" y="1134657"/>
            <a:ext cx="3869931" cy="3497668"/>
          </a:xfrm>
        </p:spPr>
        <p:txBody>
          <a:bodyPr/>
          <a:lstStyle>
            <a:lvl1pPr>
              <a:buClr>
                <a:srgbClr val="012576"/>
              </a:buClr>
              <a:defRPr sz="2000"/>
            </a:lvl1pPr>
            <a:lvl2pPr>
              <a:buClr>
                <a:srgbClr val="012576"/>
              </a:buClr>
              <a:defRPr sz="1800"/>
            </a:lvl2pPr>
            <a:lvl3pPr>
              <a:buClr>
                <a:srgbClr val="012576"/>
              </a:buClr>
              <a:defRPr sz="1600"/>
            </a:lvl3pPr>
            <a:lvl4pPr>
              <a:buClr>
                <a:srgbClr val="012576"/>
              </a:buClr>
              <a:defRPr sz="1400"/>
            </a:lvl4pPr>
            <a:lvl5pPr>
              <a:buClr>
                <a:srgbClr val="01257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6123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A5B5C-CEC4-1DA0-DCBC-865653E1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53A8-0AE1-1650-1027-6E2A07DC4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12576"/>
              </a:buClr>
              <a:defRPr sz="2400"/>
            </a:lvl1pPr>
            <a:lvl2pPr>
              <a:buClr>
                <a:srgbClr val="012576"/>
              </a:buClr>
              <a:defRPr sz="2000"/>
            </a:lvl2pPr>
            <a:lvl3pPr>
              <a:buClr>
                <a:srgbClr val="012576"/>
              </a:buClr>
              <a:defRPr sz="1800"/>
            </a:lvl3pPr>
            <a:lvl4pPr>
              <a:buClr>
                <a:srgbClr val="012576"/>
              </a:buClr>
              <a:defRPr sz="1400"/>
            </a:lvl4pPr>
            <a:lvl5pPr>
              <a:buClr>
                <a:srgbClr val="01257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79A6-E1AD-6D7C-8C15-18609E1D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3BEC-FA35-4395-A2D7-10A3E0885ECB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47F07-361E-26FF-0F4D-2D65EFC4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08A9E-19CB-F85C-DB95-7E82DC6C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062748-323B-4D6C-AC7C-BB22E8E5A4F9}" type="slidenum">
              <a:rPr lang="LID4096" smtClean="0"/>
              <a:pPr/>
              <a:t>‹#›</a:t>
            </a:fld>
            <a:endParaRPr lang="LID4096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41F321-7B94-8DE4-832E-FE9E94D9B0C7}"/>
              </a:ext>
            </a:extLst>
          </p:cNvPr>
          <p:cNvCxnSpPr>
            <a:cxnSpLocks/>
          </p:cNvCxnSpPr>
          <p:nvPr userDrawn="1"/>
        </p:nvCxnSpPr>
        <p:spPr>
          <a:xfrm>
            <a:off x="628650" y="1048863"/>
            <a:ext cx="7886700" cy="0"/>
          </a:xfrm>
          <a:prstGeom prst="line">
            <a:avLst/>
          </a:prstGeom>
          <a:ln w="31750">
            <a:solidFill>
              <a:srgbClr val="01257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96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8D9A-27F5-015F-2229-DE8ABE38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79A6E-709B-79DA-5D43-7B1F6F53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A1F8E-FA2D-4A3F-F15B-735E1E45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3559A-C31D-4946-9CBD-44417C5BCB1B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67A5-2962-0A2B-62B7-050DA60F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A97EC-D57E-36B8-4873-B19EA4F5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952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3528-5227-4A5B-2426-B8FF1EF3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3BE1A-E7B0-38C1-031C-068DF97FD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5A941-ECCF-4EE5-4733-09CD0FDE5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3F7BC-94C9-877D-6CB4-35CEEEFC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8EFC-ADCB-4435-B7C3-F5BE71E74B45}" type="datetime1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9B267-D428-9F2C-04D0-5D966044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70733-3B73-2C9A-985F-AE1F4A8B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015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85DC-C0C7-5531-9BA4-4FAA2811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6E4E6-D97C-B56C-07F5-3FFAD8D61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093D9-2C43-0E4C-218C-0A6462391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C8139-8CE6-6C5A-DADD-494AB49E2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58292-DE02-C7C9-81A5-15FCDF4F6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4D2D8-BEB2-E36F-19CA-D95D4436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BAD66-EF7A-4E7E-9388-4FC4B582E755}" type="datetime1">
              <a:rPr lang="LID4096" smtClean="0"/>
              <a:t>09/04/2026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5F78F-252B-1F76-AA96-E800A32D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FBDD7-3B88-FE7D-4D2B-B3022AF1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594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B503-1CFA-0C58-B287-2DE082CB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32656-384F-91AC-28D5-97CB95DA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7E4FA-BC4D-4A35-83C4-EB1DBB178AB2}" type="datetime1">
              <a:rPr lang="LID4096" smtClean="0"/>
              <a:t>09/04/2026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548C3-8650-15DA-6D44-9847448B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389C8-8120-1863-2F91-7DB020D9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84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14B87-F761-4684-E7D1-875703CD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7ED45-41A2-41CC-9B38-3368F60D9634}" type="datetime1">
              <a:rPr lang="LID4096" smtClean="0"/>
              <a:t>09/04/2026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AA7DD-B042-B7DC-877D-95F568C9A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49B32-CE1A-6175-CB34-59B93957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923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DF55-769C-540F-3DBC-DA2E3FF0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C7F9-BD64-19D5-E2E5-BD67DCCE3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F3FAE-9E56-DE61-BB72-0B8563E6C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15637-763A-907F-8B33-012895A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326F-974E-4E61-A981-DE52CC626B94}" type="datetime1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2F7A-5EAC-277B-447C-0EF51E48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C3554-F1E1-0687-FA85-D983D8AB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755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B3B9-BFD5-0BEF-4F03-7BAEB926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88C3C-934C-4AAB-59C3-9F64FB80A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127CE-36D5-ACDA-0120-C46AA03AE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64B1A-9867-03CC-9DC6-511B3B6C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1BC9-BEF3-4C8C-8389-D51C529E1654}" type="datetime1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D55B1-12AF-CCB4-8F8D-9000408C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1D9BD-0000-899D-D364-E10D3A78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436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BD7A-AC9E-3435-A6C1-3E533A12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4E77F-D2E4-1655-5CCE-E508CFE2A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0BFB9-C0E6-300C-758D-8EE0673C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29EF4-DB35-405F-A822-D8385744B128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32B2-01E5-F32D-8745-91554372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55AF9-85A5-6940-2075-473FBA7B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019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F584E-5D3C-4EDC-55CC-CD29FCD38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2F8C1-9253-F0FA-666E-99E868DAD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E1AE-92C9-CF0D-4959-BE8E5B67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88544-22CE-43F8-9880-4EF2E9A4B54A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B8CBA-6812-AABE-5565-65F95A57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50EB9-02A7-3C78-B8EC-57DC9E17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172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4;p18">
            <a:extLst>
              <a:ext uri="{FF2B5EF4-FFF2-40B4-BE49-F238E27FC236}">
                <a16:creationId xmlns:a16="http://schemas.microsoft.com/office/drawing/2014/main" id="{1FCF16C7-18F4-46E3-FB1A-9EFD3D602A38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680B2-6954-62ED-1200-ABDAC200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65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0829A-5971-46F5-A8E0-360A8CB35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34657"/>
            <a:ext cx="7886700" cy="3497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942AB-1DFC-896B-A378-8F8C23BB8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A84AF-BA6B-4DAF-AB1B-85CF773D7379}" type="datetime1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C8EC7-4C08-107E-22F3-532C96363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E2861-2358-1E40-C778-69517F8C9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62748-323B-4D6C-AC7C-BB22E8E5A4F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750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8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55.png"/><Relationship Id="rId10" Type="http://schemas.openxmlformats.org/officeDocument/2006/relationships/image" Target="../media/image56.png"/><Relationship Id="rId4" Type="http://schemas.openxmlformats.org/officeDocument/2006/relationships/image" Target="../media/image54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7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0.png"/><Relationship Id="rId10" Type="http://schemas.openxmlformats.org/officeDocument/2006/relationships/image" Target="../media/image77.png"/><Relationship Id="rId4" Type="http://schemas.openxmlformats.org/officeDocument/2006/relationships/image" Target="../media/image710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ollev.com/claudiohail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00.png"/><Relationship Id="rId3" Type="http://schemas.openxmlformats.org/officeDocument/2006/relationships/image" Target="../media/image21.png"/><Relationship Id="rId12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3.png"/><Relationship Id="rId11" Type="http://schemas.openxmlformats.org/officeDocument/2006/relationships/image" Target="../media/image180.png"/><Relationship Id="rId10" Type="http://schemas.openxmlformats.org/officeDocument/2006/relationships/image" Target="../media/image170.png"/><Relationship Id="rId9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46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7" Type="http://schemas.openxmlformats.org/officeDocument/2006/relationships/image" Target="../media/image4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5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hyperlink" Target="https://pollev.com/claudiohail" TargetMode="External"/><Relationship Id="rId7" Type="http://schemas.openxmlformats.org/officeDocument/2006/relationships/image" Target="../media/image5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10.png"/><Relationship Id="rId7" Type="http://schemas.openxmlformats.org/officeDocument/2006/relationships/image" Target="../media/image6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0.png"/><Relationship Id="rId7" Type="http://schemas.openxmlformats.org/officeDocument/2006/relationships/image" Target="../media/image71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11" Type="http://schemas.openxmlformats.org/officeDocument/2006/relationships/image" Target="../media/image750.png"/><Relationship Id="rId5" Type="http://schemas.openxmlformats.org/officeDocument/2006/relationships/image" Target="../media/image690.png"/><Relationship Id="rId10" Type="http://schemas.openxmlformats.org/officeDocument/2006/relationships/image" Target="../media/image740.png"/><Relationship Id="rId4" Type="http://schemas.openxmlformats.org/officeDocument/2006/relationships/image" Target="../media/image680.png"/><Relationship Id="rId9" Type="http://schemas.openxmlformats.org/officeDocument/2006/relationships/image" Target="../media/image7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A87355-6CA1-F059-D224-36CB3DBF0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B2ABC-EFD7-4CCD-2F19-4FE2BBAB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02219"/>
            <a:ext cx="6858000" cy="1661252"/>
          </a:xfrm>
        </p:spPr>
        <p:txBody>
          <a:bodyPr>
            <a:normAutofit/>
          </a:bodyPr>
          <a:lstStyle/>
          <a:p>
            <a:r>
              <a:rPr lang="en-US" dirty="0"/>
              <a:t>Lecture 2C: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Energy Transfer, General Energy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Pure substances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3988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8D65-B3FF-E491-85D4-D12CEB63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3BE4B9-8D9A-1862-35C5-426494C5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731"/>
            <a:ext cx="7886700" cy="653109"/>
          </a:xfrm>
        </p:spPr>
        <p:txBody>
          <a:bodyPr>
            <a:normAutofit/>
          </a:bodyPr>
          <a:lstStyle/>
          <a:p>
            <a:r>
              <a:rPr lang="en-US" dirty="0"/>
              <a:t>After this lecture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19B159-4872-14B2-B399-7743BBD6B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energy analysis of open systems and cycles.</a:t>
            </a:r>
          </a:p>
          <a:p>
            <a:r>
              <a:rPr lang="en-US" dirty="0"/>
              <a:t>Define energy conversion efficiency. </a:t>
            </a:r>
          </a:p>
          <a:p>
            <a:r>
              <a:rPr lang="en-US" dirty="0"/>
              <a:t>Introduction to pure substances and phase change processes. 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108BD-94D1-517C-4169-A28F5EFE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4739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0AF113-343A-81DD-A724-58DD9B06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0CDF59-D13B-15DB-0DE0-48987027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2800" dirty="0"/>
              <a:t>What you will be able to do after this course: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romanUcPeriod"/>
            </a:pP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</a:rPr>
              <a:t>Knowledge: </a:t>
            </a:r>
            <a:r>
              <a:rPr lang="en-US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Write the first and second laws of thermodynamics.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romanUcPeriod"/>
            </a:pPr>
            <a:r>
              <a:rPr lang="en-US" sz="2400" b="1" i="1" dirty="0">
                <a:ea typeface="Times New Roman" panose="02020603050405020304" pitchFamily="18" charset="0"/>
              </a:rPr>
              <a:t>Comprehension</a:t>
            </a:r>
            <a:r>
              <a:rPr lang="en-US" sz="2400" b="1" dirty="0">
                <a:ea typeface="Times New Roman" panose="02020603050405020304" pitchFamily="18" charset="0"/>
              </a:rPr>
              <a:t>: Describe the first and second laws in the student’s own language.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romanUcPeriod"/>
            </a:pPr>
            <a:r>
              <a:rPr lang="en-US" sz="2400" b="1" i="1" dirty="0">
                <a:ea typeface="Times New Roman" panose="02020603050405020304" pitchFamily="18" charset="0"/>
              </a:rPr>
              <a:t>Application</a:t>
            </a:r>
            <a:r>
              <a:rPr lang="en-US" sz="2400" b="1" dirty="0">
                <a:ea typeface="Times New Roman" panose="02020603050405020304" pitchFamily="18" charset="0"/>
              </a:rPr>
              <a:t>: Solve simple single-answer problems using the first law.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romanUcPeriod"/>
            </a:pPr>
            <a:r>
              <a:rPr lang="en-US" sz="2400" i="1" dirty="0">
                <a:solidFill>
                  <a:schemeClr val="bg2">
                    <a:lumMod val="90000"/>
                  </a:schemeClr>
                </a:solidFill>
                <a:ea typeface="Times New Roman" panose="02020603050405020304" pitchFamily="18" charset="0"/>
              </a:rPr>
              <a:t>Analysis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ea typeface="Times New Roman" panose="02020603050405020304" pitchFamily="18" charset="0"/>
              </a:rPr>
              <a:t>: Solve problems requiring both the first and second laws.</a:t>
            </a:r>
            <a:endParaRPr lang="en-US" sz="24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Tx/>
              <a:buFont typeface="+mj-lt"/>
              <a:buAutoNum type="romanUcPeriod"/>
            </a:pPr>
            <a:r>
              <a:rPr lang="en-US" sz="2400" i="1" dirty="0">
                <a:solidFill>
                  <a:schemeClr val="bg2">
                    <a:lumMod val="90000"/>
                  </a:schemeClr>
                </a:solidFill>
                <a:ea typeface="Times New Roman" panose="02020603050405020304" pitchFamily="18" charset="0"/>
              </a:rPr>
              <a:t>Synthesis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  <a:ea typeface="Times New Roman" panose="02020603050405020304" pitchFamily="18" charset="0"/>
              </a:rPr>
              <a:t>: Develop schemes to improve the efficiency or performance of thermodynamic systems, e.g., compressors, turbines, heat pumps, etc.</a:t>
            </a:r>
            <a:endParaRPr lang="en-US" sz="24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5A400-41CA-A007-80A0-9C771B8B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9CBBCB-A0DD-7A5F-5C31-9EF653BFEB48}"/>
              </a:ext>
            </a:extLst>
          </p:cNvPr>
          <p:cNvSpPr txBox="1">
            <a:spLocks/>
          </p:cNvSpPr>
          <p:nvPr/>
        </p:nvSpPr>
        <p:spPr>
          <a:xfrm>
            <a:off x="781050" y="1287057"/>
            <a:ext cx="7886700" cy="3497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900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hermodynamic pV diagram of a process 1-2 compression">
            <a:extLst>
              <a:ext uri="{FF2B5EF4-FFF2-40B4-BE49-F238E27FC236}">
                <a16:creationId xmlns:a16="http://schemas.microsoft.com/office/drawing/2014/main" id="{E1BAAAA6-6CBA-5E25-DEE2-6943C57D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07" y="1567275"/>
            <a:ext cx="3148542" cy="3020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4ACB5-96A8-779E-55E3-2FC99741F650}"/>
              </a:ext>
            </a:extLst>
          </p:cNvPr>
          <p:cNvSpPr txBox="1"/>
          <p:nvPr/>
        </p:nvSpPr>
        <p:spPr>
          <a:xfrm>
            <a:off x="1230957" y="19821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endParaRPr lang="LID4096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F7151-15A9-6DDB-625F-81F6174783C9}"/>
              </a:ext>
            </a:extLst>
          </p:cNvPr>
          <p:cNvSpPr txBox="1"/>
          <p:nvPr/>
        </p:nvSpPr>
        <p:spPr>
          <a:xfrm>
            <a:off x="4091046" y="421449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</a:t>
            </a:r>
            <a:endParaRPr lang="LID4096" sz="1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DAE14B-5855-2E4A-0FB4-F2A2FBC05CC9}"/>
              </a:ext>
            </a:extLst>
          </p:cNvPr>
          <p:cNvCxnSpPr>
            <a:cxnSpLocks/>
          </p:cNvCxnSpPr>
          <p:nvPr/>
        </p:nvCxnSpPr>
        <p:spPr>
          <a:xfrm flipH="1">
            <a:off x="2139793" y="3256107"/>
            <a:ext cx="193703" cy="3156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17267D-4AEF-7A8C-6D29-70EB4906C5C1}"/>
              </a:ext>
            </a:extLst>
          </p:cNvPr>
          <p:cNvCxnSpPr>
            <a:cxnSpLocks/>
          </p:cNvCxnSpPr>
          <p:nvPr/>
        </p:nvCxnSpPr>
        <p:spPr>
          <a:xfrm flipH="1">
            <a:off x="2142006" y="3408507"/>
            <a:ext cx="343890" cy="5603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21E8E3-E82C-AAC0-1683-DC6A0C825ED1}"/>
              </a:ext>
            </a:extLst>
          </p:cNvPr>
          <p:cNvCxnSpPr>
            <a:cxnSpLocks/>
          </p:cNvCxnSpPr>
          <p:nvPr/>
        </p:nvCxnSpPr>
        <p:spPr>
          <a:xfrm flipH="1">
            <a:off x="2239971" y="3560907"/>
            <a:ext cx="398325" cy="6490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4994EB-DA14-F71A-4EF8-B7BAF30CCCDA}"/>
              </a:ext>
            </a:extLst>
          </p:cNvPr>
          <p:cNvCxnSpPr>
            <a:cxnSpLocks/>
          </p:cNvCxnSpPr>
          <p:nvPr/>
        </p:nvCxnSpPr>
        <p:spPr>
          <a:xfrm flipH="1">
            <a:off x="2485896" y="3621478"/>
            <a:ext cx="361153" cy="5885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A48659-6F21-6090-869F-D901ABFAD62B}"/>
              </a:ext>
            </a:extLst>
          </p:cNvPr>
          <p:cNvCxnSpPr>
            <a:cxnSpLocks/>
          </p:cNvCxnSpPr>
          <p:nvPr/>
        </p:nvCxnSpPr>
        <p:spPr>
          <a:xfrm flipH="1">
            <a:off x="2749393" y="3756416"/>
            <a:ext cx="260772" cy="424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9D8414-6C5B-4AEA-285A-7DCC053BD20C}"/>
              </a:ext>
            </a:extLst>
          </p:cNvPr>
          <p:cNvCxnSpPr>
            <a:cxnSpLocks/>
          </p:cNvCxnSpPr>
          <p:nvPr/>
        </p:nvCxnSpPr>
        <p:spPr>
          <a:xfrm flipH="1">
            <a:off x="3003014" y="3829705"/>
            <a:ext cx="208100" cy="3391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17BF6A-D29C-A334-5602-DBB6900BECF2}"/>
              </a:ext>
            </a:extLst>
          </p:cNvPr>
          <p:cNvCxnSpPr>
            <a:cxnSpLocks/>
          </p:cNvCxnSpPr>
          <p:nvPr/>
        </p:nvCxnSpPr>
        <p:spPr>
          <a:xfrm flipH="1">
            <a:off x="3231765" y="3927387"/>
            <a:ext cx="165328" cy="2694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5CF8C6-AB26-8C71-FB15-D382AF3F6B0F}"/>
              </a:ext>
            </a:extLst>
          </p:cNvPr>
          <p:cNvCxnSpPr>
            <a:cxnSpLocks/>
          </p:cNvCxnSpPr>
          <p:nvPr/>
        </p:nvCxnSpPr>
        <p:spPr>
          <a:xfrm flipH="1">
            <a:off x="2130038" y="3084827"/>
            <a:ext cx="88822" cy="1447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F869414-0A96-89BE-C71D-252FF1A2E0ED}"/>
              </a:ext>
            </a:extLst>
          </p:cNvPr>
          <p:cNvSpPr txBox="1"/>
          <p:nvPr/>
        </p:nvSpPr>
        <p:spPr>
          <a:xfrm>
            <a:off x="3475834" y="348543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LID4096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D51BE4-4DA8-C873-01FD-8F4D8A8052F9}"/>
              </a:ext>
            </a:extLst>
          </p:cNvPr>
          <p:cNvSpPr txBox="1"/>
          <p:nvPr/>
        </p:nvSpPr>
        <p:spPr>
          <a:xfrm>
            <a:off x="2076834" y="255986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LID4096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26F625-B500-D3C1-6694-FD394AAC176D}"/>
              </a:ext>
            </a:extLst>
          </p:cNvPr>
          <p:cNvSpPr txBox="1"/>
          <p:nvPr/>
        </p:nvSpPr>
        <p:spPr>
          <a:xfrm>
            <a:off x="1124067" y="356498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p</a:t>
            </a:r>
            <a:r>
              <a:rPr lang="en-US" sz="1800" baseline="-25000" dirty="0">
                <a:solidFill>
                  <a:srgbClr val="FF0000"/>
                </a:solidFill>
              </a:rPr>
              <a:t>1</a:t>
            </a:r>
            <a:endParaRPr lang="LID4096" sz="1800" baseline="-250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99D3C-D5BB-F911-DBB5-1D947A79657F}"/>
              </a:ext>
            </a:extLst>
          </p:cNvPr>
          <p:cNvSpPr txBox="1"/>
          <p:nvPr/>
        </p:nvSpPr>
        <p:spPr>
          <a:xfrm>
            <a:off x="1100799" y="263464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p</a:t>
            </a:r>
            <a:r>
              <a:rPr lang="en-US" sz="1800" baseline="-25000" dirty="0">
                <a:solidFill>
                  <a:srgbClr val="FF0000"/>
                </a:solidFill>
              </a:rPr>
              <a:t>2</a:t>
            </a:r>
            <a:endParaRPr lang="LID4096" sz="1800" baseline="-250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B19287-58F1-5120-97DC-D5138754D8BC}"/>
              </a:ext>
            </a:extLst>
          </p:cNvPr>
          <p:cNvSpPr txBox="1"/>
          <p:nvPr/>
        </p:nvSpPr>
        <p:spPr>
          <a:xfrm>
            <a:off x="1940860" y="427573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V</a:t>
            </a:r>
            <a:r>
              <a:rPr lang="en-US" sz="1800" baseline="-25000" dirty="0">
                <a:solidFill>
                  <a:srgbClr val="FF0000"/>
                </a:solidFill>
              </a:rPr>
              <a:t>2</a:t>
            </a:r>
            <a:endParaRPr lang="LID4096" sz="1800" baseline="-250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B824C7-C282-E47B-943D-883C0504FECF}"/>
              </a:ext>
            </a:extLst>
          </p:cNvPr>
          <p:cNvSpPr txBox="1"/>
          <p:nvPr/>
        </p:nvSpPr>
        <p:spPr>
          <a:xfrm>
            <a:off x="3211114" y="426935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V</a:t>
            </a:r>
            <a:r>
              <a:rPr lang="en-US" sz="1800" baseline="-25000" dirty="0">
                <a:solidFill>
                  <a:srgbClr val="FF0000"/>
                </a:solidFill>
              </a:rPr>
              <a:t>1</a:t>
            </a:r>
            <a:endParaRPr lang="LID4096" sz="1800" baseline="-25000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189E-9EAE-71AB-0D07-04189A29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Lecture 2B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43DF5-19F0-8E48-FC4B-267E7D80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D21A3-01BC-0D29-5087-E7BABC5398AF}"/>
                  </a:ext>
                </a:extLst>
              </p:cNvPr>
              <p:cNvSpPr txBox="1"/>
              <p:nvPr/>
            </p:nvSpPr>
            <p:spPr>
              <a:xfrm>
                <a:off x="2514600" y="1178275"/>
                <a:ext cx="2057400" cy="809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𝑝𝑑𝑉</m:t>
                          </m:r>
                        </m:e>
                      </m:nary>
                    </m:oMath>
                  </m:oMathPara>
                </a14:m>
                <a:endParaRPr lang="LID4096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3D21A3-01BC-0D29-5087-E7BABC539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1178275"/>
                <a:ext cx="2057400" cy="8097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C54A64D-DD8C-F5AF-A01D-D45EBC56914E}"/>
              </a:ext>
            </a:extLst>
          </p:cNvPr>
          <p:cNvSpPr txBox="1"/>
          <p:nvPr/>
        </p:nvSpPr>
        <p:spPr>
          <a:xfrm>
            <a:off x="720319" y="141678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Boundary work</a:t>
            </a:r>
            <a:endParaRPr lang="LID4096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5C6246C-53DF-44C8-E99E-BFD7B7FB1685}"/>
                  </a:ext>
                </a:extLst>
              </p:cNvPr>
              <p:cNvSpPr txBox="1"/>
              <p:nvPr/>
            </p:nvSpPr>
            <p:spPr>
              <a:xfrm>
                <a:off x="7156532" y="2597212"/>
                <a:ext cx="801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5C6246C-53DF-44C8-E99E-BFD7B7FB1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532" y="2597212"/>
                <a:ext cx="801245" cy="276999"/>
              </a:xfrm>
              <a:prstGeom prst="rect">
                <a:avLst/>
              </a:prstGeom>
              <a:blipFill>
                <a:blip r:embed="rId5"/>
                <a:stretch>
                  <a:fillRect l="-9160" r="-53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21C15F1-0EA0-A98C-F4BA-E7271DFB5FB2}"/>
              </a:ext>
            </a:extLst>
          </p:cNvPr>
          <p:cNvSpPr txBox="1"/>
          <p:nvPr/>
        </p:nvSpPr>
        <p:spPr>
          <a:xfrm>
            <a:off x="4831817" y="2990329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Exact differentials</a:t>
            </a:r>
            <a:endParaRPr lang="LID4096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682805-C6EB-E9BD-7E18-9C5228DF7AA5}"/>
                  </a:ext>
                </a:extLst>
              </p:cNvPr>
              <p:cNvSpPr txBox="1"/>
              <p:nvPr/>
            </p:nvSpPr>
            <p:spPr>
              <a:xfrm>
                <a:off x="7169661" y="3067520"/>
                <a:ext cx="3487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682805-C6EB-E9BD-7E18-9C5228DF7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661" y="3067520"/>
                <a:ext cx="348750" cy="276999"/>
              </a:xfrm>
              <a:prstGeom prst="rect">
                <a:avLst/>
              </a:prstGeom>
              <a:blipFill>
                <a:blip r:embed="rId6"/>
                <a:stretch>
                  <a:fillRect l="-15789" r="-1403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7BC10E5-3878-FE69-C1A5-290B130FFCDE}"/>
              </a:ext>
            </a:extLst>
          </p:cNvPr>
          <p:cNvSpPr txBox="1"/>
          <p:nvPr/>
        </p:nvSpPr>
        <p:spPr>
          <a:xfrm>
            <a:off x="4831817" y="257175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Inexact differentials</a:t>
            </a:r>
            <a:endParaRPr lang="LID4096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32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5EA5-648F-9277-7F78-0FD937EA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2B2F-35D9-3499-FF01-1AE6A208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Lecture 2B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199A-2F84-DAEA-EAB5-0057FFA5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332EA9-A7DB-CF42-9244-A085156B4402}"/>
                  </a:ext>
                </a:extLst>
              </p:cNvPr>
              <p:cNvSpPr txBox="1"/>
              <p:nvPr/>
            </p:nvSpPr>
            <p:spPr>
              <a:xfrm>
                <a:off x="5733724" y="4046912"/>
                <a:ext cx="17727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332EA9-A7DB-CF42-9244-A085156B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724" y="4046912"/>
                <a:ext cx="1772793" cy="369332"/>
              </a:xfrm>
              <a:prstGeom prst="rect">
                <a:avLst/>
              </a:prstGeom>
              <a:blipFill>
                <a:blip r:embed="rId3"/>
                <a:stretch>
                  <a:fillRect l="-3448" r="-24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BB28BBC-87B6-6230-0A49-0DFCCA102382}"/>
              </a:ext>
            </a:extLst>
          </p:cNvPr>
          <p:cNvSpPr/>
          <p:nvPr/>
        </p:nvSpPr>
        <p:spPr>
          <a:xfrm>
            <a:off x="5475852" y="3899264"/>
            <a:ext cx="2345267" cy="650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DCBA0A-326E-D409-E3E6-6B0863B8C1FF}"/>
                  </a:ext>
                </a:extLst>
              </p:cNvPr>
              <p:cNvSpPr txBox="1"/>
              <p:nvPr/>
            </p:nvSpPr>
            <p:spPr>
              <a:xfrm>
                <a:off x="5032752" y="3319505"/>
                <a:ext cx="2983317" cy="403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system</m:t>
                          </m:r>
                        </m:sub>
                      </m:sSub>
                    </m:oMath>
                  </m:oMathPara>
                </a14:m>
                <a:endParaRPr lang="LID4096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DCBA0A-326E-D409-E3E6-6B0863B8C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752" y="3319505"/>
                <a:ext cx="2983317" cy="403316"/>
              </a:xfrm>
              <a:prstGeom prst="rect">
                <a:avLst/>
              </a:prstGeom>
              <a:blipFill>
                <a:blip r:embed="rId4"/>
                <a:stretch>
                  <a:fillRect l="-1840" r="-1022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 descr="A thermodynamic p-V diagramm illustrating two processes A and B">
            <a:extLst>
              <a:ext uri="{FF2B5EF4-FFF2-40B4-BE49-F238E27FC236}">
                <a16:creationId xmlns:a16="http://schemas.microsoft.com/office/drawing/2014/main" id="{27E269AB-E381-20A5-49B6-0BD4236E6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931" y="1982724"/>
            <a:ext cx="3014285" cy="24820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7E92F1F-DE59-8B99-A05C-B7C32733F26E}"/>
              </a:ext>
            </a:extLst>
          </p:cNvPr>
          <p:cNvSpPr txBox="1"/>
          <p:nvPr/>
        </p:nvSpPr>
        <p:spPr>
          <a:xfrm>
            <a:off x="1026406" y="2075057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</a:t>
            </a:r>
            <a:endParaRPr lang="LID4096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35160C-E8BC-DF81-0104-54091E2100C3}"/>
              </a:ext>
            </a:extLst>
          </p:cNvPr>
          <p:cNvSpPr txBox="1"/>
          <p:nvPr/>
        </p:nvSpPr>
        <p:spPr>
          <a:xfrm>
            <a:off x="3777607" y="4224828"/>
            <a:ext cx="31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</a:t>
            </a:r>
            <a:endParaRPr lang="LID4096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B58C7-2197-A4F5-3772-43112922512B}"/>
              </a:ext>
            </a:extLst>
          </p:cNvPr>
          <p:cNvSpPr txBox="1"/>
          <p:nvPr/>
        </p:nvSpPr>
        <p:spPr>
          <a:xfrm>
            <a:off x="3142277" y="3492171"/>
            <a:ext cx="267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LID4096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AE972C-35BC-B19E-6BE9-BEC61CD8313E}"/>
              </a:ext>
            </a:extLst>
          </p:cNvPr>
          <p:cNvSpPr txBox="1"/>
          <p:nvPr/>
        </p:nvSpPr>
        <p:spPr>
          <a:xfrm>
            <a:off x="1731087" y="2487485"/>
            <a:ext cx="267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AC8143-174B-7187-9D65-9EB9FCDDEA0F}"/>
              </a:ext>
            </a:extLst>
          </p:cNvPr>
          <p:cNvSpPr txBox="1"/>
          <p:nvPr/>
        </p:nvSpPr>
        <p:spPr>
          <a:xfrm>
            <a:off x="797164" y="3575319"/>
            <a:ext cx="50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1</a:t>
            </a:r>
            <a:endParaRPr lang="LID4096" sz="1800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F6531E-31D7-0059-6A35-5FDAEB5557B3}"/>
              </a:ext>
            </a:extLst>
          </p:cNvPr>
          <p:cNvSpPr txBox="1"/>
          <p:nvPr/>
        </p:nvSpPr>
        <p:spPr>
          <a:xfrm>
            <a:off x="773896" y="2644972"/>
            <a:ext cx="56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2</a:t>
            </a:r>
            <a:endParaRPr lang="LID4096" sz="1800" baseline="-25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7D327E-E2C8-C5FE-CB80-5A66B2076E8A}"/>
              </a:ext>
            </a:extLst>
          </p:cNvPr>
          <p:cNvSpPr txBox="1"/>
          <p:nvPr/>
        </p:nvSpPr>
        <p:spPr>
          <a:xfrm>
            <a:off x="1645088" y="4286063"/>
            <a:ext cx="49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</a:t>
            </a:r>
            <a:r>
              <a:rPr lang="en-US" sz="1800" baseline="-25000" dirty="0"/>
              <a:t>2</a:t>
            </a:r>
            <a:endParaRPr lang="LID4096" sz="1800" baseline="-25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046C45-8E17-D95A-6DFF-A82697AE10C5}"/>
              </a:ext>
            </a:extLst>
          </p:cNvPr>
          <p:cNvSpPr txBox="1"/>
          <p:nvPr/>
        </p:nvSpPr>
        <p:spPr>
          <a:xfrm>
            <a:off x="2915342" y="4279689"/>
            <a:ext cx="5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</a:t>
            </a:r>
            <a:r>
              <a:rPr lang="en-US" sz="1800" baseline="-25000" dirty="0"/>
              <a:t>1</a:t>
            </a:r>
            <a:endParaRPr lang="LID4096" sz="1800" baseline="-25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47FD65-9D5C-BCA5-DF30-687E741C6203}"/>
              </a:ext>
            </a:extLst>
          </p:cNvPr>
          <p:cNvSpPr txBox="1"/>
          <p:nvPr/>
        </p:nvSpPr>
        <p:spPr>
          <a:xfrm rot="2303495">
            <a:off x="2371699" y="2859684"/>
            <a:ext cx="1102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B</a:t>
            </a:r>
            <a:endParaRPr lang="LID4096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42AD71-6EBD-D1BF-4FA4-619365242453}"/>
              </a:ext>
            </a:extLst>
          </p:cNvPr>
          <p:cNvSpPr txBox="1"/>
          <p:nvPr/>
        </p:nvSpPr>
        <p:spPr>
          <a:xfrm rot="2303495">
            <a:off x="1964710" y="3223599"/>
            <a:ext cx="1049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A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D48FED0-ACBA-B5D8-659F-7E1C824CE60A}"/>
                  </a:ext>
                </a:extLst>
              </p:cNvPr>
              <p:cNvSpPr txBox="1"/>
              <p:nvPr/>
            </p:nvSpPr>
            <p:spPr>
              <a:xfrm>
                <a:off x="3056218" y="2357651"/>
                <a:ext cx="11082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D48FED0-ACBA-B5D8-659F-7E1C824C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218" y="2357651"/>
                <a:ext cx="1108252" cy="276999"/>
              </a:xfrm>
              <a:prstGeom prst="rect">
                <a:avLst/>
              </a:prstGeom>
              <a:blipFill>
                <a:blip r:embed="rId6"/>
                <a:stretch>
                  <a:fillRect l="-3846" r="-549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0DA399C-D636-25A6-785E-261B88F4E583}"/>
                  </a:ext>
                </a:extLst>
              </p:cNvPr>
              <p:cNvSpPr txBox="1"/>
              <p:nvPr/>
            </p:nvSpPr>
            <p:spPr>
              <a:xfrm>
                <a:off x="3090989" y="2711996"/>
                <a:ext cx="98430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0DA399C-D636-25A6-785E-261B88F4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89" y="2711996"/>
                <a:ext cx="984308" cy="276999"/>
              </a:xfrm>
              <a:prstGeom prst="rect">
                <a:avLst/>
              </a:prstGeom>
              <a:blipFill>
                <a:blip r:embed="rId7"/>
                <a:stretch>
                  <a:fillRect l="-4321" r="-123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Picture 56" descr="A schematic illustration of a closed system exchanging energy with the surroundings ">
            <a:extLst>
              <a:ext uri="{FF2B5EF4-FFF2-40B4-BE49-F238E27FC236}">
                <a16:creationId xmlns:a16="http://schemas.microsoft.com/office/drawing/2014/main" id="{3FBA3B92-A9F2-0329-A1A2-B85ABECE13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102"/>
          <a:stretch/>
        </p:blipFill>
        <p:spPr>
          <a:xfrm>
            <a:off x="5322357" y="1377349"/>
            <a:ext cx="2427549" cy="20192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DA1C307-D769-BC20-3F31-C68AD0F442F0}"/>
                  </a:ext>
                </a:extLst>
              </p:cNvPr>
              <p:cNvSpPr txBox="1"/>
              <p:nvPr/>
            </p:nvSpPr>
            <p:spPr>
              <a:xfrm>
                <a:off x="5842439" y="2151001"/>
                <a:ext cx="829434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system</m:t>
                          </m:r>
                        </m:sub>
                      </m:sSub>
                    </m:oMath>
                  </m:oMathPara>
                </a14:m>
                <a:endParaRPr lang="LID4096" sz="1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DA1C307-D769-BC20-3F31-C68AD0F44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439" y="2151001"/>
                <a:ext cx="829434" cy="394852"/>
              </a:xfrm>
              <a:prstGeom prst="rect">
                <a:avLst/>
              </a:prstGeom>
              <a:blipFill>
                <a:blip r:embed="rId9"/>
                <a:stretch>
                  <a:fillRect r="-21324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80F525-8F5D-B939-24AB-D593CC80554A}"/>
                  </a:ext>
                </a:extLst>
              </p:cNvPr>
              <p:cNvSpPr txBox="1"/>
              <p:nvPr/>
            </p:nvSpPr>
            <p:spPr>
              <a:xfrm>
                <a:off x="7384637" y="2570790"/>
                <a:ext cx="6028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80F525-8F5D-B939-24AB-D593CC805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37" y="2570790"/>
                <a:ext cx="602857" cy="400110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E2A39D2-1B20-F48F-3B96-04786CAA8A38}"/>
                  </a:ext>
                </a:extLst>
              </p:cNvPr>
              <p:cNvSpPr txBox="1"/>
              <p:nvPr/>
            </p:nvSpPr>
            <p:spPr>
              <a:xfrm>
                <a:off x="7384636" y="1665186"/>
                <a:ext cx="6028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E2A39D2-1B20-F48F-3B96-04786CAA8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36" y="1665186"/>
                <a:ext cx="602857" cy="40011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D45870-5F42-38BE-4D7C-7B22779340E3}"/>
                  </a:ext>
                </a:extLst>
              </p:cNvPr>
              <p:cNvSpPr txBox="1"/>
              <p:nvPr/>
            </p:nvSpPr>
            <p:spPr>
              <a:xfrm>
                <a:off x="2725182" y="1487733"/>
                <a:ext cx="1390316" cy="621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nary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D45870-5F42-38BE-4D7C-7B2277934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82" y="1487733"/>
                <a:ext cx="1390316" cy="6210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6A9D96-16B9-1B54-07C6-9A4D1B59C727}"/>
                  </a:ext>
                </a:extLst>
              </p:cNvPr>
              <p:cNvSpPr txBox="1"/>
              <p:nvPr/>
            </p:nvSpPr>
            <p:spPr>
              <a:xfrm>
                <a:off x="798595" y="1508907"/>
                <a:ext cx="1646412" cy="621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6A9D96-16B9-1B54-07C6-9A4D1B59C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95" y="1508907"/>
                <a:ext cx="1646412" cy="6210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99D5113-D67B-908E-E3EA-963979E018B0}"/>
              </a:ext>
            </a:extLst>
          </p:cNvPr>
          <p:cNvSpPr txBox="1"/>
          <p:nvPr/>
        </p:nvSpPr>
        <p:spPr>
          <a:xfrm>
            <a:off x="728134" y="1126287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W </a:t>
            </a:r>
            <a:r>
              <a:rPr lang="en-US" sz="1800" dirty="0"/>
              <a:t>and </a:t>
            </a:r>
            <a:r>
              <a:rPr lang="en-US" sz="1800" i="1" dirty="0"/>
              <a:t>Q </a:t>
            </a:r>
            <a:r>
              <a:rPr lang="en-US" sz="1800" dirty="0"/>
              <a:t>are path dependent</a:t>
            </a:r>
            <a:endParaRPr lang="LID4096" sz="1800" i="1" dirty="0"/>
          </a:p>
        </p:txBody>
      </p:sp>
    </p:spTree>
    <p:extLst>
      <p:ext uri="{BB962C8B-B14F-4D97-AF65-F5344CB8AC3E}">
        <p14:creationId xmlns:p14="http://schemas.microsoft.com/office/powerpoint/2010/main" val="1049879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D0BB-FA5E-0F58-FA2F-18B556CA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6522-ADC8-0124-2E7C-1CD9C324E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Account for energy transfer with surroundings.</a:t>
            </a:r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B8AC1-5009-7F4C-8DF4-F3FFF792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Energy transfer in/out of a closed system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6A70B-EF50-C963-8005-1E497A6A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5F33A9-B959-D20B-2B1E-9B1F39E39629}"/>
                  </a:ext>
                </a:extLst>
              </p:cNvPr>
              <p:cNvSpPr txBox="1"/>
              <p:nvPr/>
            </p:nvSpPr>
            <p:spPr>
              <a:xfrm>
                <a:off x="804808" y="2162849"/>
                <a:ext cx="47983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LID4096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5F33A9-B959-D20B-2B1E-9B1F39E3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08" y="2162849"/>
                <a:ext cx="4798301" cy="307777"/>
              </a:xfrm>
              <a:prstGeom prst="rect">
                <a:avLst/>
              </a:prstGeom>
              <a:blipFill>
                <a:blip r:embed="rId3"/>
                <a:stretch>
                  <a:fillRect b="-32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62EDA8-66B9-89DB-2532-74B2B557D60F}"/>
                  </a:ext>
                </a:extLst>
              </p:cNvPr>
              <p:cNvSpPr txBox="1"/>
              <p:nvPr/>
            </p:nvSpPr>
            <p:spPr>
              <a:xfrm>
                <a:off x="2744323" y="2596537"/>
                <a:ext cx="4976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LID4096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62EDA8-66B9-89DB-2532-74B2B557D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323" y="2596537"/>
                <a:ext cx="497660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9808DE-DD5E-0402-94AA-A3E21931F1E2}"/>
                  </a:ext>
                </a:extLst>
              </p:cNvPr>
              <p:cNvSpPr txBox="1"/>
              <p:nvPr/>
            </p:nvSpPr>
            <p:spPr>
              <a:xfrm>
                <a:off x="4416765" y="2606434"/>
                <a:ext cx="4976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9808DE-DD5E-0402-94AA-A3E21931F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765" y="2606434"/>
                <a:ext cx="497660" cy="400110"/>
              </a:xfrm>
              <a:prstGeom prst="rect">
                <a:avLst/>
              </a:prstGeom>
              <a:blipFill>
                <a:blip r:embed="rId5"/>
                <a:stretch>
                  <a:fillRect r="-234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5ADADAC-CF1A-7778-20FD-3F029500F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267" y="1893021"/>
            <a:ext cx="2427549" cy="2197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76A12-FED7-C4D8-80D7-09C451AC6C93}"/>
                  </a:ext>
                </a:extLst>
              </p:cNvPr>
              <p:cNvSpPr txBox="1"/>
              <p:nvPr/>
            </p:nvSpPr>
            <p:spPr>
              <a:xfrm>
                <a:off x="6299349" y="2855860"/>
                <a:ext cx="829434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system</m:t>
                          </m:r>
                        </m:sub>
                      </m:sSub>
                    </m:oMath>
                  </m:oMathPara>
                </a14:m>
                <a:endParaRPr lang="LID4096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76A12-FED7-C4D8-80D7-09C451AC6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349" y="2855860"/>
                <a:ext cx="829434" cy="394852"/>
              </a:xfrm>
              <a:prstGeom prst="rect">
                <a:avLst/>
              </a:prstGeom>
              <a:blipFill>
                <a:blip r:embed="rId7"/>
                <a:stretch>
                  <a:fillRect r="-21324" b="-769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142409-D7B0-A8A0-AE78-4574794FEC47}"/>
                  </a:ext>
                </a:extLst>
              </p:cNvPr>
              <p:cNvSpPr txBox="1"/>
              <p:nvPr/>
            </p:nvSpPr>
            <p:spPr>
              <a:xfrm>
                <a:off x="7841547" y="3275649"/>
                <a:ext cx="6028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142409-D7B0-A8A0-AE78-4574794FE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47" y="3275649"/>
                <a:ext cx="602857" cy="400110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8C8CA0-00C4-6B5C-AE42-33F56039569A}"/>
                  </a:ext>
                </a:extLst>
              </p:cNvPr>
              <p:cNvSpPr txBox="1"/>
              <p:nvPr/>
            </p:nvSpPr>
            <p:spPr>
              <a:xfrm>
                <a:off x="7841546" y="2370045"/>
                <a:ext cx="6028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8C8CA0-00C4-6B5C-AE42-33F560395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46" y="2370045"/>
                <a:ext cx="602857" cy="400110"/>
              </a:xfrm>
              <a:prstGeom prst="rect">
                <a:avLst/>
              </a:prstGeom>
              <a:blipFill>
                <a:blip r:embed="rId9"/>
                <a:stretch>
                  <a:fillRect r="-2020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27122-D3AE-F310-20ED-9B46AD460AA0}"/>
                  </a:ext>
                </a:extLst>
              </p:cNvPr>
              <p:cNvSpPr txBox="1"/>
              <p:nvPr/>
            </p:nvSpPr>
            <p:spPr>
              <a:xfrm>
                <a:off x="1440456" y="3250712"/>
                <a:ext cx="233567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dirty="0">
                    <a:solidFill>
                      <a:srgbClr val="FF0000"/>
                    </a:solidFill>
                  </a:rPr>
                  <a:t>Heat in: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&gt; 0</a:t>
                </a: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Work out: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&gt; 0</a:t>
                </a:r>
                <a:endParaRPr lang="LID4096" sz="2000" dirty="0">
                  <a:solidFill>
                    <a:srgbClr val="FF0000"/>
                  </a:solidFill>
                </a:endParaRPr>
              </a:p>
              <a:p>
                <a:endParaRPr lang="LID4096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27122-D3AE-F310-20ED-9B46AD460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456" y="3250712"/>
                <a:ext cx="2335678" cy="1015663"/>
              </a:xfrm>
              <a:prstGeom prst="rect">
                <a:avLst/>
              </a:prstGeom>
              <a:blipFill>
                <a:blip r:embed="rId10"/>
                <a:stretch>
                  <a:fillRect l="-2611" t="-239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50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6109-F744-D1EA-CC45-9F8B0794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64F8-5928-7191-A25F-066404B3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thermodynamics: Example II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D9A5-0C7A-3833-44BA-2B00D6C22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U</a:t>
            </a:r>
            <a:r>
              <a:rPr lang="en-US" baseline="-25000" dirty="0"/>
              <a:t>2</a:t>
            </a:r>
            <a:r>
              <a:rPr lang="en-US" dirty="0"/>
              <a:t> of the air inside the box.</a:t>
            </a:r>
          </a:p>
          <a:p>
            <a:r>
              <a:rPr lang="en-US" dirty="0">
                <a:solidFill>
                  <a:srgbClr val="FF0000"/>
                </a:solidFill>
              </a:rPr>
              <a:t>Define the system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A4778-EDD9-9B3D-655F-B6D99733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981084-15DC-524E-E3F1-8CFAC8E3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07" y="1440383"/>
            <a:ext cx="3196831" cy="26828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12113A-9030-2862-BD78-11513AB45832}"/>
                  </a:ext>
                </a:extLst>
              </p:cNvPr>
              <p:cNvSpPr txBox="1"/>
              <p:nvPr/>
            </p:nvSpPr>
            <p:spPr>
              <a:xfrm>
                <a:off x="5532425" y="2375005"/>
                <a:ext cx="14363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=800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12113A-9030-2862-BD78-11513AB4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425" y="2375005"/>
                <a:ext cx="1436337" cy="33855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5975DE-44F5-1AA0-4168-CE69B6C740EA}"/>
                  </a:ext>
                </a:extLst>
              </p:cNvPr>
              <p:cNvSpPr txBox="1"/>
              <p:nvPr/>
            </p:nvSpPr>
            <p:spPr>
              <a:xfrm>
                <a:off x="5532425" y="2679220"/>
                <a:ext cx="14363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5975DE-44F5-1AA0-4168-CE69B6C74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425" y="2679220"/>
                <a:ext cx="143633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475727-3EB4-F3B9-251F-5E0D6A84737B}"/>
                  </a:ext>
                </a:extLst>
              </p:cNvPr>
              <p:cNvSpPr txBox="1"/>
              <p:nvPr/>
            </p:nvSpPr>
            <p:spPr>
              <a:xfrm>
                <a:off x="7400276" y="2607135"/>
                <a:ext cx="1631812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475727-3EB4-F3B9-251F-5E0D6A847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276" y="2607135"/>
                <a:ext cx="1631812" cy="349326"/>
              </a:xfrm>
              <a:prstGeom prst="rect">
                <a:avLst/>
              </a:prstGeom>
              <a:blipFill>
                <a:blip r:embed="rId6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3CCADC-DB94-7791-C590-08AE8742A050}"/>
                  </a:ext>
                </a:extLst>
              </p:cNvPr>
              <p:cNvSpPr txBox="1"/>
              <p:nvPr/>
            </p:nvSpPr>
            <p:spPr>
              <a:xfrm>
                <a:off x="3522688" y="1792526"/>
                <a:ext cx="1631812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=500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3CCADC-DB94-7791-C590-08AE8742A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88" y="1792526"/>
                <a:ext cx="1631812" cy="349326"/>
              </a:xfrm>
              <a:prstGeom prst="rect">
                <a:avLst/>
              </a:prstGeom>
              <a:blipFill>
                <a:blip r:embed="rId7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92958-7673-6C2D-98C4-566049BD436E}"/>
                  </a:ext>
                </a:extLst>
              </p:cNvPr>
              <p:cNvSpPr txBox="1"/>
              <p:nvPr/>
            </p:nvSpPr>
            <p:spPr>
              <a:xfrm>
                <a:off x="3614864" y="3298164"/>
                <a:ext cx="1631812" cy="34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=2000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92958-7673-6C2D-98C4-566049BD4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64" y="3298164"/>
                <a:ext cx="1631812" cy="349326"/>
              </a:xfrm>
              <a:prstGeom prst="rect">
                <a:avLst/>
              </a:prstGeom>
              <a:blipFill>
                <a:blip r:embed="rId8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F411AA-A84D-CBD6-F335-FB86A8CA69AB}"/>
                  </a:ext>
                </a:extLst>
              </p:cNvPr>
              <p:cNvSpPr txBox="1"/>
              <p:nvPr/>
            </p:nvSpPr>
            <p:spPr>
              <a:xfrm>
                <a:off x="800446" y="3391626"/>
                <a:ext cx="29445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=1500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en-US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F411AA-A84D-CBD6-F335-FB86A8CA6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6" y="3391626"/>
                <a:ext cx="2944589" cy="307777"/>
              </a:xfrm>
              <a:prstGeom prst="rect">
                <a:avLst/>
              </a:prstGeom>
              <a:blipFill>
                <a:blip r:embed="rId9"/>
                <a:stretch>
                  <a:fillRect l="-3727" r="-1035" b="-3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C35B98-3935-32FA-1E5F-50615C65A1AE}"/>
                  </a:ext>
                </a:extLst>
              </p:cNvPr>
              <p:cNvSpPr txBox="1"/>
              <p:nvPr/>
            </p:nvSpPr>
            <p:spPr>
              <a:xfrm>
                <a:off x="800446" y="2903899"/>
                <a:ext cx="19152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C35B98-3935-32FA-1E5F-50615C65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6" y="2903899"/>
                <a:ext cx="1915268" cy="369332"/>
              </a:xfrm>
              <a:prstGeom prst="rect">
                <a:avLst/>
              </a:prstGeom>
              <a:blipFill>
                <a:blip r:embed="rId10"/>
                <a:stretch>
                  <a:fillRect l="-2866" r="-318" b="-1639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459206-9250-51B1-C8D9-10300FAB36AA}"/>
                  </a:ext>
                </a:extLst>
              </p:cNvPr>
              <p:cNvSpPr txBox="1"/>
              <p:nvPr/>
            </p:nvSpPr>
            <p:spPr>
              <a:xfrm>
                <a:off x="800445" y="2018523"/>
                <a:ext cx="17727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459206-9250-51B1-C8D9-10300FAB3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5" y="2018523"/>
                <a:ext cx="1772793" cy="369332"/>
              </a:xfrm>
              <a:prstGeom prst="rect">
                <a:avLst/>
              </a:prstGeom>
              <a:blipFill>
                <a:blip r:embed="rId11"/>
                <a:stretch>
                  <a:fillRect l="-3093" r="-2405" b="-3114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5DC43D-6E7E-132D-330F-69FD958064ED}"/>
                  </a:ext>
                </a:extLst>
              </p:cNvPr>
              <p:cNvSpPr txBox="1"/>
              <p:nvPr/>
            </p:nvSpPr>
            <p:spPr>
              <a:xfrm>
                <a:off x="800446" y="2472330"/>
                <a:ext cx="2057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=−100 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𝑘𝐽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; </m:t>
                      </m:r>
                    </m:oMath>
                  </m:oMathPara>
                </a14:m>
                <a:endParaRPr lang="LID4096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5DC43D-6E7E-132D-330F-69FD95806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6" y="2472330"/>
                <a:ext cx="205705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CCE84A-A767-D934-7919-B78D8D9DD014}"/>
                  </a:ext>
                </a:extLst>
              </p:cNvPr>
              <p:cNvSpPr txBox="1"/>
              <p:nvPr/>
            </p:nvSpPr>
            <p:spPr>
              <a:xfrm>
                <a:off x="800446" y="3791872"/>
                <a:ext cx="3747275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CCE84A-A767-D934-7919-B78D8D9DD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6" y="3791872"/>
                <a:ext cx="3747275" cy="391582"/>
              </a:xfrm>
              <a:prstGeom prst="rect">
                <a:avLst/>
              </a:prstGeom>
              <a:blipFill>
                <a:blip r:embed="rId1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E43ED6-CD71-296F-49E6-ED59E9B8A01F}"/>
                  </a:ext>
                </a:extLst>
              </p:cNvPr>
              <p:cNvSpPr txBox="1"/>
              <p:nvPr/>
            </p:nvSpPr>
            <p:spPr>
              <a:xfrm>
                <a:off x="800445" y="4185772"/>
                <a:ext cx="4937819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=2400 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𝑘𝐽</m:t>
                      </m:r>
                    </m:oMath>
                  </m:oMathPara>
                </a14:m>
                <a:endParaRPr lang="LID4096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E43ED6-CD71-296F-49E6-ED59E9B8A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45" y="4185772"/>
                <a:ext cx="4937819" cy="391582"/>
              </a:xfrm>
              <a:prstGeom prst="rect">
                <a:avLst/>
              </a:prstGeom>
              <a:blipFill>
                <a:blip r:embed="rId1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39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535E-0CB3-D829-1054-17D9813D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exercise: Isochoric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0FB43-1093-B4BF-A285-C4A40B20A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1C844-9F36-20F7-5310-17C99CBC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E08AF-C89C-419B-DA30-7913395F3AF2}"/>
              </a:ext>
            </a:extLst>
          </p:cNvPr>
          <p:cNvSpPr txBox="1"/>
          <p:nvPr/>
        </p:nvSpPr>
        <p:spPr>
          <a:xfrm>
            <a:off x="1101641" y="1652599"/>
            <a:ext cx="3740525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Question: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the work extracted during a process of isochoric heating in a cylinder from state 1 to state 2: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AAB7B-F002-8309-7195-7163F68D84FC}"/>
              </a:ext>
            </a:extLst>
          </p:cNvPr>
          <p:cNvSpPr txBox="1"/>
          <p:nvPr/>
        </p:nvSpPr>
        <p:spPr>
          <a:xfrm>
            <a:off x="1101640" y="2709680"/>
            <a:ext cx="3740525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 Do: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Determine the relevant equation for Work.</a:t>
            </a:r>
          </a:p>
          <a:p>
            <a:pPr marL="285750" indent="-285750">
              <a:buFontTx/>
              <a:buChar char="-"/>
            </a:pPr>
            <a:r>
              <a:rPr lang="en-US" dirty="0"/>
              <a:t>Simplify and rewrite that equation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Go to </a:t>
            </a:r>
            <a:r>
              <a:rPr lang="en-US" dirty="0">
                <a:hlinkClick r:id="rId2"/>
              </a:rPr>
              <a:t>pollev.com/</a:t>
            </a:r>
            <a:r>
              <a:rPr lang="en-US" dirty="0" err="1">
                <a:hlinkClick r:id="rId2"/>
              </a:rPr>
              <a:t>claudiohail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… and answer question 1.  </a:t>
            </a:r>
            <a:endParaRPr lang="LID4096" dirty="0"/>
          </a:p>
        </p:txBody>
      </p:sp>
      <p:pic>
        <p:nvPicPr>
          <p:cNvPr id="11" name="Picture 10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D476B536-8A1A-5713-757A-FE59C8E80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38" y="1768419"/>
            <a:ext cx="1951745" cy="195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2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B659-9EAA-F016-375B-B5A527B1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What is the work extracted during a process of isochoric heating in a cylinder from state 1 to state 2:
Slide 9</a:t>
            </a:r>
          </a:p>
        </p:txBody>
      </p:sp>
      <p:sp>
        <p:nvSpPr>
          <p:cNvPr id="3" name="Footer Placeholder 2" descr="Poll Everywhere multiple choice poll activity&#10;Activity Title: What is the work extracted during a process of isochoric heating in a cylinder from state 1 to state 2:">
            <a:extLst>
              <a:ext uri="{FF2B5EF4-FFF2-40B4-BE49-F238E27FC236}">
                <a16:creationId xmlns:a16="http://schemas.microsoft.com/office/drawing/2014/main" id="{8500BC78-48A7-063E-536C-ECBDFA3DD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A3214-3519-4741-2CDE-4958A575900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7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hematic illustration of an open thermodynamic system exchanging heat, work and mass with the surroundings">
            <a:extLst>
              <a:ext uri="{FF2B5EF4-FFF2-40B4-BE49-F238E27FC236}">
                <a16:creationId xmlns:a16="http://schemas.microsoft.com/office/drawing/2014/main" id="{EF153C17-59F8-C381-8B5C-83CA80F8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60" y="1271819"/>
            <a:ext cx="3742657" cy="2131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663D98-B67C-54E1-FA9B-7F49511A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thermodynamics: Open system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4DEE-DFEA-E5B5-2F2F-6277E4F57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Mass flows carry energy in/out. 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EC479-C973-CC5A-E036-9A786BCC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97A566-4BA6-455F-1CA9-936D2C08E46D}"/>
                  </a:ext>
                </a:extLst>
              </p:cNvPr>
              <p:cNvSpPr txBox="1"/>
              <p:nvPr/>
            </p:nvSpPr>
            <p:spPr>
              <a:xfrm>
                <a:off x="628650" y="2187087"/>
                <a:ext cx="14647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LID4096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97A566-4BA6-455F-1CA9-936D2C08E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87087"/>
                <a:ext cx="1464760" cy="307777"/>
              </a:xfrm>
              <a:prstGeom prst="rect">
                <a:avLst/>
              </a:prstGeom>
              <a:blipFill>
                <a:blip r:embed="rId3"/>
                <a:stretch>
                  <a:fillRect l="-2917" r="-125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1009D6-2F81-AD3C-26A1-53D948C49455}"/>
                  </a:ext>
                </a:extLst>
              </p:cNvPr>
              <p:cNvSpPr txBox="1"/>
              <p:nvPr/>
            </p:nvSpPr>
            <p:spPr>
              <a:xfrm>
                <a:off x="520822" y="2964192"/>
                <a:ext cx="1532466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system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LID4096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1009D6-2F81-AD3C-26A1-53D948C49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22" y="2964192"/>
                <a:ext cx="1532466" cy="39485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BC13DD-0AF6-7F3D-8E45-668D7DDE0497}"/>
                  </a:ext>
                </a:extLst>
              </p:cNvPr>
              <p:cNvSpPr txBox="1"/>
              <p:nvPr/>
            </p:nvSpPr>
            <p:spPr>
              <a:xfrm>
                <a:off x="5219363" y="3102251"/>
                <a:ext cx="5261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BC13DD-0AF6-7F3D-8E45-668D7DDE0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363" y="3102251"/>
                <a:ext cx="52617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56CAB-4688-E283-AF30-071000A699F8}"/>
                  </a:ext>
                </a:extLst>
              </p:cNvPr>
              <p:cNvSpPr txBox="1"/>
              <p:nvPr/>
            </p:nvSpPr>
            <p:spPr>
              <a:xfrm>
                <a:off x="8131569" y="2263973"/>
                <a:ext cx="4916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56CAB-4688-E283-AF30-071000A69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569" y="2263973"/>
                <a:ext cx="491609" cy="307777"/>
              </a:xfrm>
              <a:prstGeom prst="rect">
                <a:avLst/>
              </a:prstGeom>
              <a:blipFill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746D14-0870-4025-51F7-F0FB2208689B}"/>
                  </a:ext>
                </a:extLst>
              </p:cNvPr>
              <p:cNvSpPr txBox="1"/>
              <p:nvPr/>
            </p:nvSpPr>
            <p:spPr>
              <a:xfrm>
                <a:off x="8048216" y="1271819"/>
                <a:ext cx="615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746D14-0870-4025-51F7-F0FB22086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216" y="1271819"/>
                <a:ext cx="61561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A1E169-A477-5B78-B100-19C36DCD7303}"/>
                  </a:ext>
                </a:extLst>
              </p:cNvPr>
              <p:cNvSpPr txBox="1"/>
              <p:nvPr/>
            </p:nvSpPr>
            <p:spPr>
              <a:xfrm>
                <a:off x="8110220" y="2027918"/>
                <a:ext cx="5810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A1E169-A477-5B78-B100-19C36DCD7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220" y="2027918"/>
                <a:ext cx="581057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961450-AC9C-0B58-2A34-1BCE94AF5286}"/>
                  </a:ext>
                </a:extLst>
              </p:cNvPr>
              <p:cNvSpPr txBox="1"/>
              <p:nvPr/>
            </p:nvSpPr>
            <p:spPr>
              <a:xfrm>
                <a:off x="8101625" y="2853841"/>
                <a:ext cx="5215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961450-AC9C-0B58-2A34-1BCE94AF5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625" y="2853841"/>
                <a:ext cx="52155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DCB110-F469-6C36-0678-BB7143F7A637}"/>
                  </a:ext>
                </a:extLst>
              </p:cNvPr>
              <p:cNvSpPr txBox="1"/>
              <p:nvPr/>
            </p:nvSpPr>
            <p:spPr>
              <a:xfrm>
                <a:off x="8095248" y="2626248"/>
                <a:ext cx="6110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DCB110-F469-6C36-0678-BB7143F7A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248" y="2626248"/>
                <a:ext cx="61100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2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62E6-DA16-911F-6A79-4524C816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analysis of thermodynamic cycles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C114-B31B-F81E-76F7-34B54E8E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4657"/>
            <a:ext cx="4453148" cy="3497668"/>
          </a:xfrm>
        </p:spPr>
        <p:txBody>
          <a:bodyPr/>
          <a:lstStyle/>
          <a:p>
            <a:r>
              <a:rPr lang="en-US" dirty="0"/>
              <a:t>A closed system undergoing a thermodynamic cycle.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19F83-35DA-1468-B221-596743FB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7" name="Picture 6" descr="An illustration of a thermodynamic cycle in a pV diagram.">
            <a:extLst>
              <a:ext uri="{FF2B5EF4-FFF2-40B4-BE49-F238E27FC236}">
                <a16:creationId xmlns:a16="http://schemas.microsoft.com/office/drawing/2014/main" id="{FE360706-6AFE-9E7D-0421-DB3EB8D6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594" y="1406057"/>
            <a:ext cx="3598756" cy="29548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418FBD-B139-65B9-8877-17F175ACA03E}"/>
              </a:ext>
            </a:extLst>
          </p:cNvPr>
          <p:cNvSpPr txBox="1"/>
          <p:nvPr/>
        </p:nvSpPr>
        <p:spPr>
          <a:xfrm>
            <a:off x="4797897" y="16455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p</a:t>
            </a:r>
            <a:endParaRPr lang="LID4096" sz="18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793038-7CDC-7AAB-268D-1FC11D53E0C1}"/>
              </a:ext>
            </a:extLst>
          </p:cNvPr>
          <p:cNvSpPr txBox="1"/>
          <p:nvPr/>
        </p:nvSpPr>
        <p:spPr>
          <a:xfrm>
            <a:off x="8321141" y="406009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V</a:t>
            </a:r>
            <a:endParaRPr lang="LID4096" sz="1800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D9EE9C-2CEA-B787-87B2-A0944BF56957}"/>
              </a:ext>
            </a:extLst>
          </p:cNvPr>
          <p:cNvSpPr txBox="1"/>
          <p:nvPr/>
        </p:nvSpPr>
        <p:spPr>
          <a:xfrm>
            <a:off x="4625225" y="3202954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p</a:t>
            </a:r>
            <a:r>
              <a:rPr lang="en-US" sz="1800" i="1" baseline="-25000" dirty="0"/>
              <a:t>1</a:t>
            </a:r>
            <a:endParaRPr lang="LID4096" sz="1800" i="1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5CDFBB-C958-0496-CF18-B435AA5BDC70}"/>
              </a:ext>
            </a:extLst>
          </p:cNvPr>
          <p:cNvSpPr txBox="1"/>
          <p:nvPr/>
        </p:nvSpPr>
        <p:spPr>
          <a:xfrm>
            <a:off x="7208831" y="419493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V</a:t>
            </a:r>
            <a:r>
              <a:rPr lang="en-US" sz="1800" i="1" baseline="-25000" dirty="0"/>
              <a:t>1</a:t>
            </a:r>
            <a:endParaRPr lang="LID4096" sz="1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17142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9318-D569-93AF-16DE-D1C1F22C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analysis of thermodynamic cycles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404F1-7F73-A7D5-BFE0-39BC3DFA5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a closed cycle process of gas in a piston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6F93D-291C-6DCE-5DAB-1B4B92AB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D7FBD-9E5F-E696-232C-FFA93B0D9CB6}"/>
              </a:ext>
            </a:extLst>
          </p:cNvPr>
          <p:cNvSpPr txBox="1"/>
          <p:nvPr/>
        </p:nvSpPr>
        <p:spPr>
          <a:xfrm>
            <a:off x="3735362" y="306699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LID4096" dirty="0"/>
          </a:p>
        </p:txBody>
      </p:sp>
      <p:grpSp>
        <p:nvGrpSpPr>
          <p:cNvPr id="23" name="Group 22" descr="An illustration of a thermodynamic cycle on a closed loop system involving a piston compressing gas. ">
            <a:extLst>
              <a:ext uri="{FF2B5EF4-FFF2-40B4-BE49-F238E27FC236}">
                <a16:creationId xmlns:a16="http://schemas.microsoft.com/office/drawing/2014/main" id="{0B4A395B-4A6D-3EB9-3E3F-6C2A7EEDDCA0}"/>
              </a:ext>
            </a:extLst>
          </p:cNvPr>
          <p:cNvGrpSpPr/>
          <p:nvPr/>
        </p:nvGrpSpPr>
        <p:grpSpPr>
          <a:xfrm>
            <a:off x="650098" y="1559719"/>
            <a:ext cx="4128499" cy="3025774"/>
            <a:chOff x="650098" y="1491987"/>
            <a:chExt cx="4128499" cy="30257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A3FB19-5C9E-4EF4-C61F-5F97A1EAC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6597" y="1491987"/>
              <a:ext cx="2917106" cy="29347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A5C1C6-6EDC-5861-B6C2-F864ABF4EEE3}"/>
                    </a:ext>
                  </a:extLst>
                </p:cNvPr>
                <p:cNvSpPr txBox="1"/>
                <p:nvPr/>
              </p:nvSpPr>
              <p:spPr>
                <a:xfrm>
                  <a:off x="2010834" y="4302317"/>
                  <a:ext cx="32393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A5C1C6-6EDC-5861-B6C2-F864ABF4E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834" y="4302317"/>
                  <a:ext cx="323935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6981" r="-1887" b="-3428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080BAA6-D820-B995-0A04-E2BB541D2ED4}"/>
                    </a:ext>
                  </a:extLst>
                </p:cNvPr>
                <p:cNvSpPr txBox="1"/>
                <p:nvPr/>
              </p:nvSpPr>
              <p:spPr>
                <a:xfrm>
                  <a:off x="4184625" y="2229837"/>
                  <a:ext cx="32393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080BAA6-D820-B995-0A04-E2BB541D2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625" y="2229837"/>
                  <a:ext cx="323935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6667" b="-3428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5E4A21D-FA88-CF99-581A-71E105942D4A}"/>
                    </a:ext>
                  </a:extLst>
                </p:cNvPr>
                <p:cNvSpPr txBox="1"/>
                <p:nvPr/>
              </p:nvSpPr>
              <p:spPr>
                <a:xfrm>
                  <a:off x="2010834" y="1491987"/>
                  <a:ext cx="34971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5E4A21D-FA88-CF99-581A-71E105942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834" y="1491987"/>
                  <a:ext cx="349711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0526" r="-1754" b="-17143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C040C74-E796-2481-0E60-3A8757DF4625}"/>
                    </a:ext>
                  </a:extLst>
                </p:cNvPr>
                <p:cNvSpPr txBox="1"/>
                <p:nvPr/>
              </p:nvSpPr>
              <p:spPr>
                <a:xfrm>
                  <a:off x="3260970" y="3038538"/>
                  <a:ext cx="35387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C040C74-E796-2481-0E60-3A8757DF4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0970" y="3038538"/>
                  <a:ext cx="353879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0345" r="-1724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5B8549-A6ED-F6A5-DA68-CEF3FE70E485}"/>
                </a:ext>
              </a:extLst>
            </p:cNvPr>
            <p:cNvSpPr txBox="1"/>
            <p:nvPr/>
          </p:nvSpPr>
          <p:spPr>
            <a:xfrm>
              <a:off x="1551307" y="149198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LID4096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949AF7-F47D-65DA-BBAB-CDCE166579F2}"/>
                </a:ext>
              </a:extLst>
            </p:cNvPr>
            <p:cNvSpPr txBox="1"/>
            <p:nvPr/>
          </p:nvSpPr>
          <p:spPr>
            <a:xfrm>
              <a:off x="1551307" y="316980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LID4096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8447AB-88EF-47CB-3CD6-682C5B931D5C}"/>
                </a:ext>
              </a:extLst>
            </p:cNvPr>
            <p:cNvSpPr txBox="1"/>
            <p:nvPr/>
          </p:nvSpPr>
          <p:spPr>
            <a:xfrm>
              <a:off x="3693029" y="164509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LID4096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4D4FFF-9249-3342-C3DB-F510307CE037}"/>
                </a:ext>
              </a:extLst>
            </p:cNvPr>
            <p:cNvSpPr txBox="1"/>
            <p:nvPr/>
          </p:nvSpPr>
          <p:spPr>
            <a:xfrm>
              <a:off x="650098" y="2838483"/>
              <a:ext cx="9012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adiabatic</a:t>
              </a:r>
              <a:endParaRPr lang="LID4096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C7C402-2610-C3FE-400C-DC29383BE9F8}"/>
                </a:ext>
              </a:extLst>
            </p:cNvPr>
            <p:cNvSpPr txBox="1"/>
            <p:nvPr/>
          </p:nvSpPr>
          <p:spPr>
            <a:xfrm>
              <a:off x="2385009" y="4209984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isochoric</a:t>
              </a:r>
              <a:endParaRPr lang="LID4096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3C443CA-2688-0713-9BD9-7818CC93BDEB}"/>
                </a:ext>
              </a:extLst>
            </p:cNvPr>
            <p:cNvSpPr txBox="1"/>
            <p:nvPr/>
          </p:nvSpPr>
          <p:spPr>
            <a:xfrm>
              <a:off x="3877388" y="2803868"/>
              <a:ext cx="9012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adiabatic</a:t>
              </a:r>
              <a:endParaRPr lang="LID4096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B630BE-2B82-1035-D7F3-E754FA1A325F}"/>
                </a:ext>
              </a:extLst>
            </p:cNvPr>
            <p:cNvSpPr txBox="1"/>
            <p:nvPr/>
          </p:nvSpPr>
          <p:spPr>
            <a:xfrm>
              <a:off x="2360545" y="1882093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isochoric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410350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An illustration of a thermodynamic cycle on a closed loop system involving a piston compressing gas. ">
            <a:extLst>
              <a:ext uri="{FF2B5EF4-FFF2-40B4-BE49-F238E27FC236}">
                <a16:creationId xmlns:a16="http://schemas.microsoft.com/office/drawing/2014/main" id="{8622C437-39F5-ADFF-30E5-2E2627CE9338}"/>
              </a:ext>
            </a:extLst>
          </p:cNvPr>
          <p:cNvGrpSpPr/>
          <p:nvPr/>
        </p:nvGrpSpPr>
        <p:grpSpPr>
          <a:xfrm>
            <a:off x="5697887" y="1669027"/>
            <a:ext cx="2397166" cy="2269459"/>
            <a:chOff x="1376597" y="1491987"/>
            <a:chExt cx="3131963" cy="296511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CE49362-7475-2C62-0EFB-1D648BB05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6597" y="1491987"/>
              <a:ext cx="2917106" cy="29347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4519B24-ED65-8FF1-DFF2-0A0FD443397F}"/>
                    </a:ext>
                  </a:extLst>
                </p:cNvPr>
                <p:cNvSpPr txBox="1"/>
                <p:nvPr/>
              </p:nvSpPr>
              <p:spPr>
                <a:xfrm>
                  <a:off x="2038290" y="4241653"/>
                  <a:ext cx="32393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4519B24-ED65-8FF1-DFF2-0A0FD4433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290" y="4241653"/>
                  <a:ext cx="323935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32500" r="-25000" b="-74074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EC49253-7A76-82CE-6697-948CFB2AC02E}"/>
                    </a:ext>
                  </a:extLst>
                </p:cNvPr>
                <p:cNvSpPr txBox="1"/>
                <p:nvPr/>
              </p:nvSpPr>
              <p:spPr>
                <a:xfrm>
                  <a:off x="4184625" y="2229837"/>
                  <a:ext cx="32393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EC49253-7A76-82CE-6697-948CFB2AC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625" y="2229837"/>
                  <a:ext cx="323935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31707" r="-21951" b="-74074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6A42F04-B431-146B-3F83-0267ECA50B9B}"/>
                    </a:ext>
                  </a:extLst>
                </p:cNvPr>
                <p:cNvSpPr txBox="1"/>
                <p:nvPr/>
              </p:nvSpPr>
              <p:spPr>
                <a:xfrm>
                  <a:off x="2010834" y="1491987"/>
                  <a:ext cx="34971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6A42F04-B431-146B-3F83-0267ECA50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834" y="1491987"/>
                  <a:ext cx="349711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22727" r="-22727" b="-5185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314398-F501-C4AB-BB4E-9135F3E2F544}"/>
                    </a:ext>
                  </a:extLst>
                </p:cNvPr>
                <p:cNvSpPr txBox="1"/>
                <p:nvPr/>
              </p:nvSpPr>
              <p:spPr>
                <a:xfrm>
                  <a:off x="3188014" y="3062086"/>
                  <a:ext cx="35387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314398-F501-C4AB-BB4E-9135F3E2F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014" y="3062086"/>
                  <a:ext cx="353879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2222" r="-22222" b="-5185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573DFB-211F-0BDE-51B3-92FCCD6293DD}"/>
                </a:ext>
              </a:extLst>
            </p:cNvPr>
            <p:cNvSpPr txBox="1"/>
            <p:nvPr/>
          </p:nvSpPr>
          <p:spPr>
            <a:xfrm>
              <a:off x="1551307" y="149198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LID4096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05B37D-63F8-027F-85DB-571644CE297F}"/>
                </a:ext>
              </a:extLst>
            </p:cNvPr>
            <p:cNvSpPr txBox="1"/>
            <p:nvPr/>
          </p:nvSpPr>
          <p:spPr>
            <a:xfrm>
              <a:off x="1551307" y="316980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LID4096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0DDF67-F269-4FA8-BF0F-535886D078D9}"/>
                </a:ext>
              </a:extLst>
            </p:cNvPr>
            <p:cNvSpPr txBox="1"/>
            <p:nvPr/>
          </p:nvSpPr>
          <p:spPr>
            <a:xfrm>
              <a:off x="3693029" y="164509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LID4096" dirty="0"/>
            </a:p>
          </p:txBody>
        </p:sp>
      </p:grpSp>
      <p:pic>
        <p:nvPicPr>
          <p:cNvPr id="14" name="Picture 13" descr="An illustration of a pot of water being heated on a stove. ">
            <a:extLst>
              <a:ext uri="{FF2B5EF4-FFF2-40B4-BE49-F238E27FC236}">
                <a16:creationId xmlns:a16="http://schemas.microsoft.com/office/drawing/2014/main" id="{4819CE57-E669-8546-506F-EC3E1FAA69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7612" y="1605839"/>
            <a:ext cx="2434706" cy="20986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1DF8D4-2B0A-1D5B-B5A0-B35D1061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conversion efficiencies (I)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F72A7-879F-4AA0-8A9C-5009C1412F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Denoted by Greek letter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F72A7-879F-4AA0-8A9C-5009C1412F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9"/>
                <a:stretch>
                  <a:fillRect l="-1005" t="-22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CEAE2-8678-1660-4975-FBD360D2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64B4F2-ABD0-35F3-55F1-5EE6B9695CA4}"/>
                  </a:ext>
                </a:extLst>
              </p:cNvPr>
              <p:cNvSpPr txBox="1"/>
              <p:nvPr/>
            </p:nvSpPr>
            <p:spPr>
              <a:xfrm>
                <a:off x="4985528" y="1158583"/>
                <a:ext cx="2729402" cy="4453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𝐸𝑓𝑓𝑖𝑐𝑖𝑒𝑛𝑐𝑦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𝐷𝑒𝑠𝑖𝑟𝑒𝑑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𝑅𝑒𝑞𝑢𝑖𝑟𝑒𝑑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64B4F2-ABD0-35F3-55F1-5EE6B969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528" y="1158583"/>
                <a:ext cx="2729402" cy="445315"/>
              </a:xfrm>
              <a:prstGeom prst="rect">
                <a:avLst/>
              </a:prstGeom>
              <a:blipFill>
                <a:blip r:embed="rId10"/>
                <a:stretch>
                  <a:fillRect l="-1786" r="-670" b="-178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76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5C1BE0-7230-BB91-20C0-6D5882931E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Pump</a:t>
            </a:r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B71EE-0031-8E09-B9DC-C49FAF26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conversion efficiencies (II)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97C9D-3E0D-F4A5-FD33-2676469D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65E586-5988-0FE4-091E-5618798C30F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Turbine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9EC35A-A622-B044-9DA8-0E6ABEBADF68}"/>
                  </a:ext>
                </a:extLst>
              </p:cNvPr>
              <p:cNvSpPr txBox="1"/>
              <p:nvPr/>
            </p:nvSpPr>
            <p:spPr>
              <a:xfrm>
                <a:off x="384129" y="3785897"/>
                <a:ext cx="4198265" cy="519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𝑝𝑢𝑚𝑝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𝑀𝑒𝑐ℎ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𝑒𝑛𝑒𝑟𝑔𝑦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𝑖𝑛𝑐𝑟𝑒𝑎𝑠𝑒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𝑀𝑒𝑐ℎ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𝑒𝑛𝑒𝑟𝑔𝑦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𝑚𝑒𝑐ℎ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𝑠ℎ𝑎𝑓𝑡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9EC35A-A622-B044-9DA8-0E6ABEBAD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9" y="3785897"/>
                <a:ext cx="4198265" cy="519758"/>
              </a:xfrm>
              <a:prstGeom prst="rect">
                <a:avLst/>
              </a:prstGeom>
              <a:blipFill>
                <a:blip r:embed="rId2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1B0D6-9411-E486-510C-4C7ADAA06A4E}"/>
                  </a:ext>
                </a:extLst>
              </p:cNvPr>
              <p:cNvSpPr txBox="1"/>
              <p:nvPr/>
            </p:nvSpPr>
            <p:spPr>
              <a:xfrm>
                <a:off x="4749846" y="3785897"/>
                <a:ext cx="4357731" cy="519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𝑡𝑢𝑟𝑏𝑖𝑛𝑒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𝑀𝑒𝑐ℎ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𝑒𝑛𝑒𝑟𝑔𝑦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𝑀𝑒𝑐ℎ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𝑒𝑛𝑒𝑟𝑔𝑦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𝑑𝑒𝑐𝑟𝑒𝑎𝑠𝑒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𝑠ℎ𝑎𝑓𝑡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𝑚𝑒𝑐ℎ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1B0D6-9411-E486-510C-4C7ADAA06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846" y="3785897"/>
                <a:ext cx="4357731" cy="519758"/>
              </a:xfrm>
              <a:prstGeom prst="rect">
                <a:avLst/>
              </a:prstGeom>
              <a:blipFill>
                <a:blip r:embed="rId3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 descr="An illustration of a turbine">
            <a:extLst>
              <a:ext uri="{FF2B5EF4-FFF2-40B4-BE49-F238E27FC236}">
                <a16:creationId xmlns:a16="http://schemas.microsoft.com/office/drawing/2014/main" id="{0A5F5C8C-34EF-0EA3-B93B-A952FF527C01}"/>
              </a:ext>
            </a:extLst>
          </p:cNvPr>
          <p:cNvGrpSpPr/>
          <p:nvPr/>
        </p:nvGrpSpPr>
        <p:grpSpPr>
          <a:xfrm>
            <a:off x="6390919" y="1389356"/>
            <a:ext cx="1844650" cy="2314671"/>
            <a:chOff x="6335885" y="1336288"/>
            <a:chExt cx="1844650" cy="231467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507AE8B-7CDA-485E-5735-D1CA53DC0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6224"/>
            <a:stretch/>
          </p:blipFill>
          <p:spPr>
            <a:xfrm>
              <a:off x="6335885" y="1336288"/>
              <a:ext cx="1229767" cy="224797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A7E040-AAEC-2F85-8116-D473856A85B3}"/>
                </a:ext>
              </a:extLst>
            </p:cNvPr>
            <p:cNvSpPr/>
            <p:nvPr/>
          </p:nvSpPr>
          <p:spPr>
            <a:xfrm>
              <a:off x="6950768" y="3268133"/>
              <a:ext cx="1229767" cy="38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205698-6F1E-A0CF-1833-30A7EF585D17}"/>
                  </a:ext>
                </a:extLst>
              </p:cNvPr>
              <p:cNvSpPr txBox="1"/>
              <p:nvPr/>
            </p:nvSpPr>
            <p:spPr>
              <a:xfrm>
                <a:off x="7517070" y="2342367"/>
                <a:ext cx="1145116" cy="336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205698-6F1E-A0CF-1833-30A7EF585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070" y="2342367"/>
                <a:ext cx="1145116" cy="336759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9310EA2-0DB7-5B10-6D20-29FA6DF8DF7A}"/>
              </a:ext>
            </a:extLst>
          </p:cNvPr>
          <p:cNvSpPr/>
          <p:nvPr/>
        </p:nvSpPr>
        <p:spPr>
          <a:xfrm>
            <a:off x="2487863" y="3403071"/>
            <a:ext cx="1229767" cy="38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1" name="Picture 20" descr="An illustration of a pump /compressor">
            <a:extLst>
              <a:ext uri="{FF2B5EF4-FFF2-40B4-BE49-F238E27FC236}">
                <a16:creationId xmlns:a16="http://schemas.microsoft.com/office/drawing/2014/main" id="{0E80D638-D9E0-F5F5-A541-FD59FFC7B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80" y="1319820"/>
            <a:ext cx="1433336" cy="25038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D66334-9D45-6E3A-5E84-E9A618ACB24B}"/>
              </a:ext>
            </a:extLst>
          </p:cNvPr>
          <p:cNvSpPr txBox="1"/>
          <p:nvPr/>
        </p:nvSpPr>
        <p:spPr>
          <a:xfrm>
            <a:off x="2450003" y="1961087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Pump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AD95D9-ECA6-A969-9458-194E8C89E833}"/>
                  </a:ext>
                </a:extLst>
              </p:cNvPr>
              <p:cNvSpPr txBox="1"/>
              <p:nvPr/>
            </p:nvSpPr>
            <p:spPr>
              <a:xfrm>
                <a:off x="3228239" y="2403369"/>
                <a:ext cx="1145116" cy="336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AD95D9-ECA6-A969-9458-194E8C89E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239" y="2403369"/>
                <a:ext cx="1145116" cy="336759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D5E97F4-970D-3271-AD97-0494FA2564F5}"/>
              </a:ext>
            </a:extLst>
          </p:cNvPr>
          <p:cNvSpPr txBox="1"/>
          <p:nvPr/>
        </p:nvSpPr>
        <p:spPr>
          <a:xfrm>
            <a:off x="1726143" y="159596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2</a:t>
            </a:r>
            <a:endParaRPr lang="LID4096" sz="1800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EB68C-96A3-2F16-F7F4-278BB5B36F31}"/>
              </a:ext>
            </a:extLst>
          </p:cNvPr>
          <p:cNvSpPr txBox="1"/>
          <p:nvPr/>
        </p:nvSpPr>
        <p:spPr>
          <a:xfrm>
            <a:off x="1856705" y="320483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1</a:t>
            </a:r>
            <a:endParaRPr lang="LID4096" sz="1800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0B6B05-8862-72F8-93A2-D7A8DFC65429}"/>
              </a:ext>
            </a:extLst>
          </p:cNvPr>
          <p:cNvSpPr txBox="1"/>
          <p:nvPr/>
        </p:nvSpPr>
        <p:spPr>
          <a:xfrm>
            <a:off x="852949" y="2328679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2 </a:t>
            </a:r>
            <a:r>
              <a:rPr lang="en-US" sz="1800" dirty="0"/>
              <a:t>&gt; p</a:t>
            </a:r>
            <a:r>
              <a:rPr lang="en-US" sz="1800" baseline="-25000" dirty="0"/>
              <a:t>1 </a:t>
            </a:r>
            <a:endParaRPr lang="LID4096" sz="18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3D1293-A300-E6EB-D090-2957824B3381}"/>
              </a:ext>
            </a:extLst>
          </p:cNvPr>
          <p:cNvSpPr txBox="1"/>
          <p:nvPr/>
        </p:nvSpPr>
        <p:spPr>
          <a:xfrm>
            <a:off x="5421101" y="220241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1 </a:t>
            </a:r>
            <a:r>
              <a:rPr lang="en-US" sz="1800" dirty="0"/>
              <a:t>&gt; p</a:t>
            </a:r>
            <a:r>
              <a:rPr lang="en-US" sz="1800" baseline="-25000" dirty="0"/>
              <a:t>2 </a:t>
            </a:r>
            <a:endParaRPr lang="LID4096" sz="1800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CE4E5-40C1-A38F-572A-F279FE7ACF24}"/>
              </a:ext>
            </a:extLst>
          </p:cNvPr>
          <p:cNvSpPr txBox="1"/>
          <p:nvPr/>
        </p:nvSpPr>
        <p:spPr>
          <a:xfrm>
            <a:off x="6176451" y="314660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2</a:t>
            </a:r>
            <a:endParaRPr lang="LID4096" sz="1800" baseline="-2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3D75B-FF7B-88EF-B9D0-C35607075015}"/>
              </a:ext>
            </a:extLst>
          </p:cNvPr>
          <p:cNvSpPr txBox="1"/>
          <p:nvPr/>
        </p:nvSpPr>
        <p:spPr>
          <a:xfrm>
            <a:off x="6084752" y="1608369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</a:t>
            </a:r>
            <a:r>
              <a:rPr lang="en-US" sz="1800" baseline="-25000" dirty="0"/>
              <a:t>1</a:t>
            </a:r>
            <a:endParaRPr lang="LID4096" sz="1800" baseline="-25000" dirty="0"/>
          </a:p>
        </p:txBody>
      </p:sp>
    </p:spTree>
    <p:extLst>
      <p:ext uri="{BB962C8B-B14F-4D97-AF65-F5344CB8AC3E}">
        <p14:creationId xmlns:p14="http://schemas.microsoft.com/office/powerpoint/2010/main" val="92247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3492-C9F2-A348-C3AA-B29F9F13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571B2D-5D2B-265E-0E39-3B93E361820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Motor</a:t>
            </a:r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39127-836C-79F9-84E0-8891052FD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conversion efficiencies (III)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757BC-6040-E8F2-3668-9B4FFBE2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BF21E6-DECC-815A-D39A-050C63F6C60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Generator</a:t>
            </a:r>
            <a:endParaRPr lang="LID4096" dirty="0"/>
          </a:p>
        </p:txBody>
      </p:sp>
      <p:grpSp>
        <p:nvGrpSpPr>
          <p:cNvPr id="13" name="Group 12" descr="An illustration of an electric generator">
            <a:extLst>
              <a:ext uri="{FF2B5EF4-FFF2-40B4-BE49-F238E27FC236}">
                <a16:creationId xmlns:a16="http://schemas.microsoft.com/office/drawing/2014/main" id="{A9DAD1B2-4D06-AD57-3BC7-9727E57E8624}"/>
              </a:ext>
            </a:extLst>
          </p:cNvPr>
          <p:cNvGrpSpPr/>
          <p:nvPr/>
        </p:nvGrpSpPr>
        <p:grpSpPr>
          <a:xfrm>
            <a:off x="5765799" y="1463306"/>
            <a:ext cx="2206017" cy="1930603"/>
            <a:chOff x="5820833" y="1760864"/>
            <a:chExt cx="2206017" cy="193060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BF69A1-FD03-8643-A4FA-189D6CFD8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8255" b="14119"/>
            <a:stretch/>
          </p:blipFill>
          <p:spPr>
            <a:xfrm>
              <a:off x="6011333" y="1760864"/>
              <a:ext cx="2015517" cy="193060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32C659-C735-EA73-7FCC-3086F6394068}"/>
                </a:ext>
              </a:extLst>
            </p:cNvPr>
            <p:cNvSpPr/>
            <p:nvPr/>
          </p:nvSpPr>
          <p:spPr>
            <a:xfrm>
              <a:off x="5820833" y="2032000"/>
              <a:ext cx="478367" cy="478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B4F4B9-F049-2169-9904-D25D56707D97}"/>
                  </a:ext>
                </a:extLst>
              </p:cNvPr>
              <p:cNvSpPr txBox="1"/>
              <p:nvPr/>
            </p:nvSpPr>
            <p:spPr>
              <a:xfrm>
                <a:off x="4969934" y="2212809"/>
                <a:ext cx="1145116" cy="336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B4F4B9-F049-2169-9904-D25D56707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934" y="2212809"/>
                <a:ext cx="1145116" cy="336759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 descr="An illustration of an electric motor">
            <a:extLst>
              <a:ext uri="{FF2B5EF4-FFF2-40B4-BE49-F238E27FC236}">
                <a16:creationId xmlns:a16="http://schemas.microsoft.com/office/drawing/2014/main" id="{9BF92E2C-6A80-A408-B062-CEC77A6FBA70}"/>
              </a:ext>
            </a:extLst>
          </p:cNvPr>
          <p:cNvGrpSpPr/>
          <p:nvPr/>
        </p:nvGrpSpPr>
        <p:grpSpPr>
          <a:xfrm>
            <a:off x="1310677" y="1807501"/>
            <a:ext cx="2596621" cy="1586408"/>
            <a:chOff x="1509711" y="1608354"/>
            <a:chExt cx="2596621" cy="158640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CDFE5C-2AEF-2A37-FD1C-92E5D041B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9711" y="1608354"/>
              <a:ext cx="2596621" cy="1586408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B02114C-7CD1-3019-9BEA-BBFA7A3B5456}"/>
                </a:ext>
              </a:extLst>
            </p:cNvPr>
            <p:cNvSpPr/>
            <p:nvPr/>
          </p:nvSpPr>
          <p:spPr>
            <a:xfrm>
              <a:off x="1724659" y="1879600"/>
              <a:ext cx="375907" cy="349114"/>
            </a:xfrm>
            <a:prstGeom prst="rect">
              <a:avLst/>
            </a:prstGeom>
            <a:solidFill>
              <a:srgbClr val="EF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0F00FE-B97B-E5ED-845D-D9E093A9234E}"/>
                </a:ext>
              </a:extLst>
            </p:cNvPr>
            <p:cNvSpPr/>
            <p:nvPr/>
          </p:nvSpPr>
          <p:spPr>
            <a:xfrm>
              <a:off x="1724659" y="2845648"/>
              <a:ext cx="492747" cy="204892"/>
            </a:xfrm>
            <a:prstGeom prst="rect">
              <a:avLst/>
            </a:prstGeom>
            <a:solidFill>
              <a:srgbClr val="EF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B13547-4FEB-B8A1-3592-5E30209CD524}"/>
                  </a:ext>
                </a:extLst>
              </p:cNvPr>
              <p:cNvSpPr txBox="1"/>
              <p:nvPr/>
            </p:nvSpPr>
            <p:spPr>
              <a:xfrm>
                <a:off x="397106" y="2573098"/>
                <a:ext cx="1145116" cy="336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B13547-4FEB-B8A1-3592-5E30209C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06" y="2573098"/>
                <a:ext cx="1145116" cy="336759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5BDDFA-1900-C2A2-FC3D-950E7D5EC7B2}"/>
                  </a:ext>
                </a:extLst>
              </p:cNvPr>
              <p:cNvSpPr txBox="1"/>
              <p:nvPr/>
            </p:nvSpPr>
            <p:spPr>
              <a:xfrm>
                <a:off x="3519432" y="2683037"/>
                <a:ext cx="1145116" cy="328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𝑒𝑙𝑒𝑐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5BDDFA-1900-C2A2-FC3D-950E7D5E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432" y="2683037"/>
                <a:ext cx="1145116" cy="328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56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77A0-4C34-BFD8-25FB-22804AA0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conversion efficiencies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986C-748F-EA6A-EDBC-4E409AB25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Combining efficiencies of multiple devices in series: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7BD26-39B0-793C-51D8-C563E5A3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7" name="Picture 6" descr="An illustration of a turbine connected to a electric generator">
            <a:extLst>
              <a:ext uri="{FF2B5EF4-FFF2-40B4-BE49-F238E27FC236}">
                <a16:creationId xmlns:a16="http://schemas.microsoft.com/office/drawing/2014/main" id="{7C2A5CDF-CE03-64BE-C84D-E7D02EB6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469" y="1759501"/>
            <a:ext cx="2809251" cy="22479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79D4F2-6865-20C3-9258-98A1D35F2B30}"/>
              </a:ext>
            </a:extLst>
          </p:cNvPr>
          <p:cNvSpPr/>
          <p:nvPr/>
        </p:nvSpPr>
        <p:spPr>
          <a:xfrm>
            <a:off x="5413572" y="3657600"/>
            <a:ext cx="2160573" cy="55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7881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80BF-C62B-8B81-845B-25057CBA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n illustration of a fan that is moving air driven by a shaft. ">
            <a:extLst>
              <a:ext uri="{FF2B5EF4-FFF2-40B4-BE49-F238E27FC236}">
                <a16:creationId xmlns:a16="http://schemas.microsoft.com/office/drawing/2014/main" id="{257F1A17-7FFC-187C-A0C2-B8CD2204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48" y="1340077"/>
            <a:ext cx="3129983" cy="2463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0C4479-0168-5640-5DC7-EBBD9C17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 Work: in groups of 2; solve </a:t>
            </a:r>
            <a:br>
              <a:rPr lang="en-US" dirty="0"/>
            </a:br>
            <a:r>
              <a:rPr lang="en-US" dirty="0"/>
              <a:t>the following problem.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77DC9-B606-2335-F32E-3AB99701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A9FD0-3197-E6A0-3576-A1AB18DA35FF}"/>
              </a:ext>
            </a:extLst>
          </p:cNvPr>
          <p:cNvSpPr txBox="1"/>
          <p:nvPr/>
        </p:nvSpPr>
        <p:spPr>
          <a:xfrm>
            <a:off x="628649" y="1170288"/>
            <a:ext cx="401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4B1C6-F10D-5C8B-B6C2-0FBB7C0D4759}"/>
              </a:ext>
            </a:extLst>
          </p:cNvPr>
          <p:cNvSpPr txBox="1"/>
          <p:nvPr/>
        </p:nvSpPr>
        <p:spPr>
          <a:xfrm>
            <a:off x="4102748" y="1496291"/>
            <a:ext cx="3740525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Question: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the efficiency of this device? Give a formula and value.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C2A8D-67C0-F500-10C4-1F7E15F0E96F}"/>
              </a:ext>
            </a:extLst>
          </p:cNvPr>
          <p:cNvSpPr txBox="1"/>
          <p:nvPr/>
        </p:nvSpPr>
        <p:spPr>
          <a:xfrm>
            <a:off x="4102748" y="2202985"/>
            <a:ext cx="3740525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 Do: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Define the thermodynamic system of interest. </a:t>
            </a:r>
          </a:p>
          <a:p>
            <a:pPr marL="285750" indent="-285750">
              <a:buFontTx/>
              <a:buChar char="-"/>
            </a:pPr>
            <a:r>
              <a:rPr lang="en-US" dirty="0"/>
              <a:t>Determine the change in energy of the fluid.</a:t>
            </a:r>
          </a:p>
          <a:p>
            <a:pPr marL="285750" indent="-285750">
              <a:buFontTx/>
              <a:buChar char="-"/>
            </a:pPr>
            <a:r>
              <a:rPr lang="en-US" dirty="0"/>
              <a:t>Determine the efficiency. </a:t>
            </a:r>
          </a:p>
          <a:p>
            <a:pPr marL="285750" indent="-285750">
              <a:buFontTx/>
              <a:buChar char="-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pollev.com/</a:t>
            </a:r>
            <a:r>
              <a:rPr lang="en-US" dirty="0" err="1">
                <a:hlinkClick r:id="rId3"/>
              </a:rPr>
              <a:t>claudiohail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… and answer question 1.  </a:t>
            </a:r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070755-19E7-569E-85B5-E3BBC3EA53BB}"/>
              </a:ext>
            </a:extLst>
          </p:cNvPr>
          <p:cNvSpPr/>
          <p:nvPr/>
        </p:nvSpPr>
        <p:spPr>
          <a:xfrm>
            <a:off x="1709420" y="2270922"/>
            <a:ext cx="474980" cy="134458"/>
          </a:xfrm>
          <a:prstGeom prst="rect">
            <a:avLst/>
          </a:prstGeom>
          <a:solidFill>
            <a:srgbClr val="F3DC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0252B8-6C8F-B8DD-B675-F9A4D993D434}"/>
                  </a:ext>
                </a:extLst>
              </p:cNvPr>
              <p:cNvSpPr txBox="1"/>
              <p:nvPr/>
            </p:nvSpPr>
            <p:spPr>
              <a:xfrm>
                <a:off x="703290" y="2240233"/>
                <a:ext cx="1381725" cy="232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0252B8-6C8F-B8DD-B675-F9A4D993D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90" y="2240233"/>
                <a:ext cx="1381725" cy="232692"/>
              </a:xfrm>
              <a:prstGeom prst="rect">
                <a:avLst/>
              </a:prstGeom>
              <a:blipFill>
                <a:blip r:embed="rId4"/>
                <a:stretch>
                  <a:fillRect l="-2203" r="-1762" b="-2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54DE1A7-9B76-06F5-7F92-AB659CE90774}"/>
              </a:ext>
            </a:extLst>
          </p:cNvPr>
          <p:cNvSpPr/>
          <p:nvPr/>
        </p:nvSpPr>
        <p:spPr>
          <a:xfrm>
            <a:off x="3175000" y="2240233"/>
            <a:ext cx="750704" cy="26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8BF88F-8D64-D7A1-2D6C-CBA4D671DE58}"/>
                  </a:ext>
                </a:extLst>
              </p:cNvPr>
              <p:cNvSpPr txBox="1"/>
              <p:nvPr/>
            </p:nvSpPr>
            <p:spPr>
              <a:xfrm>
                <a:off x="3058803" y="2220987"/>
                <a:ext cx="9277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8BF88F-8D64-D7A1-2D6C-CBA4D671D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803" y="2220987"/>
                <a:ext cx="927748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203A5A-862E-2A18-DB49-29CB422F615C}"/>
                  </a:ext>
                </a:extLst>
              </p:cNvPr>
              <p:cNvSpPr txBox="1"/>
              <p:nvPr/>
            </p:nvSpPr>
            <p:spPr>
              <a:xfrm>
                <a:off x="1206355" y="3779473"/>
                <a:ext cx="17220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;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203A5A-862E-2A18-DB49-29CB422F6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355" y="3779473"/>
                <a:ext cx="1722074" cy="215444"/>
              </a:xfrm>
              <a:prstGeom prst="rect">
                <a:avLst/>
              </a:prstGeom>
              <a:blipFill>
                <a:blip r:embed="rId6"/>
                <a:stretch>
                  <a:fillRect l="-1773" r="-355" b="-3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E3F437-49A5-1DAA-C5C9-8AD92147C54B}"/>
                  </a:ext>
                </a:extLst>
              </p:cNvPr>
              <p:cNvSpPr txBox="1"/>
              <p:nvPr/>
            </p:nvSpPr>
            <p:spPr>
              <a:xfrm>
                <a:off x="1226675" y="3994917"/>
                <a:ext cx="6099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E3F437-49A5-1DAA-C5C9-8AD92147C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675" y="3994917"/>
                <a:ext cx="609911" cy="215444"/>
              </a:xfrm>
              <a:prstGeom prst="rect">
                <a:avLst/>
              </a:prstGeom>
              <a:blipFill>
                <a:blip r:embed="rId7"/>
                <a:stretch>
                  <a:fillRect l="-3000" r="-1000" b="-13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841D9B-C29D-BDEB-F2B4-6B3FA662355F}"/>
                  </a:ext>
                </a:extLst>
              </p:cNvPr>
              <p:cNvSpPr txBox="1"/>
              <p:nvPr/>
            </p:nvSpPr>
            <p:spPr>
              <a:xfrm>
                <a:off x="1244455" y="4253228"/>
                <a:ext cx="18431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841D9B-C29D-BDEB-F2B4-6B3FA6623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455" y="4253228"/>
                <a:ext cx="1843133" cy="215444"/>
              </a:xfrm>
              <a:prstGeom prst="rect">
                <a:avLst/>
              </a:prstGeom>
              <a:blipFill>
                <a:blip r:embed="rId8"/>
                <a:stretch>
                  <a:fillRect l="-1987" r="-331" b="-171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E4A5DA38-25B9-FC67-AA40-98CC948A2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795" y="3101000"/>
            <a:ext cx="1698233" cy="169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4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DBDC-2998-1218-1085-DC3CA486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free text poll activity
Activity Title: What is the efficiency of this device? Give a formula and value.
Slide 13</a:t>
            </a:r>
            <a:endParaRPr lang="LID4096">
              <a:solidFill>
                <a:srgbClr val="000000">
                  <a:alpha val="0"/>
                </a:srgbClr>
              </a:solidFill>
            </a:endParaRPr>
          </a:p>
        </p:txBody>
      </p:sp>
      <p:sp>
        <p:nvSpPr>
          <p:cNvPr id="3" name="Footer Placeholder 2" descr="Poll Everywhere free text poll activity&#10;Activity Title: What is the efficiency of this device? Give a formula and value.">
            <a:extLst>
              <a:ext uri="{FF2B5EF4-FFF2-40B4-BE49-F238E27FC236}">
                <a16:creationId xmlns:a16="http://schemas.microsoft.com/office/drawing/2014/main" id="{9019B94B-CD0B-82B7-7FCC-D92F71DE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Sp25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4BC1-54FC-BA00-F986-8FC6CC41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62748-323B-4D6C-AC7C-BB22E8E5A4F9}" type="slidenum">
              <a:rPr lang="LID4096" smtClean="0"/>
              <a:t>18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3720C-B02B-5158-BE71-11FD0E60144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93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BA7D-9B4B-2B68-B28E-63E9B24D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n illustration of a fan that is moving air driven by a shaft. ">
            <a:extLst>
              <a:ext uri="{FF2B5EF4-FFF2-40B4-BE49-F238E27FC236}">
                <a16:creationId xmlns:a16="http://schemas.microsoft.com/office/drawing/2014/main" id="{755C7B3D-7AE4-E506-6905-E7E8AF159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48" y="1340077"/>
            <a:ext cx="3129983" cy="2463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18935-0312-0EAE-CD46-ADF16A74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 Work: in groups of 2; solve </a:t>
            </a:r>
            <a:br>
              <a:rPr lang="en-US" dirty="0"/>
            </a:br>
            <a:r>
              <a:rPr lang="en-US" dirty="0"/>
              <a:t>the following problem.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43C27-C085-8FB6-51D8-2B862C15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17229-6639-A5A3-5F54-DB4878D455DB}"/>
              </a:ext>
            </a:extLst>
          </p:cNvPr>
          <p:cNvSpPr txBox="1"/>
          <p:nvPr/>
        </p:nvSpPr>
        <p:spPr>
          <a:xfrm>
            <a:off x="628649" y="1170288"/>
            <a:ext cx="401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22862A-0605-69DA-027E-6E4A1E6DF4CA}"/>
              </a:ext>
            </a:extLst>
          </p:cNvPr>
          <p:cNvSpPr/>
          <p:nvPr/>
        </p:nvSpPr>
        <p:spPr>
          <a:xfrm>
            <a:off x="1709420" y="2270922"/>
            <a:ext cx="474980" cy="134458"/>
          </a:xfrm>
          <a:prstGeom prst="rect">
            <a:avLst/>
          </a:prstGeom>
          <a:solidFill>
            <a:srgbClr val="F3DC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45DC7F-9117-0761-481B-4336198053E1}"/>
                  </a:ext>
                </a:extLst>
              </p:cNvPr>
              <p:cNvSpPr txBox="1"/>
              <p:nvPr/>
            </p:nvSpPr>
            <p:spPr>
              <a:xfrm>
                <a:off x="703290" y="2240233"/>
                <a:ext cx="1381725" cy="232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𝑠ℎ𝑎𝑓𝑡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45DC7F-9117-0761-481B-433619805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90" y="2240233"/>
                <a:ext cx="1381725" cy="232692"/>
              </a:xfrm>
              <a:prstGeom prst="rect">
                <a:avLst/>
              </a:prstGeom>
              <a:blipFill>
                <a:blip r:embed="rId3"/>
                <a:stretch>
                  <a:fillRect l="-2203" r="-176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940AC55-7ED5-66D4-DFF5-30B142304D18}"/>
              </a:ext>
            </a:extLst>
          </p:cNvPr>
          <p:cNvSpPr/>
          <p:nvPr/>
        </p:nvSpPr>
        <p:spPr>
          <a:xfrm>
            <a:off x="3175000" y="2240233"/>
            <a:ext cx="750704" cy="26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B9BD63-9F41-4AE5-7519-79C7EAEA4719}"/>
                  </a:ext>
                </a:extLst>
              </p:cNvPr>
              <p:cNvSpPr txBox="1"/>
              <p:nvPr/>
            </p:nvSpPr>
            <p:spPr>
              <a:xfrm>
                <a:off x="3058803" y="2220987"/>
                <a:ext cx="9277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B9BD63-9F41-4AE5-7519-79C7EAEA4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803" y="2220987"/>
                <a:ext cx="927748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9C2E46-F3DA-9E37-E6A6-5891BEDA5D29}"/>
                  </a:ext>
                </a:extLst>
              </p:cNvPr>
              <p:cNvSpPr txBox="1"/>
              <p:nvPr/>
            </p:nvSpPr>
            <p:spPr>
              <a:xfrm>
                <a:off x="1206355" y="3779473"/>
                <a:ext cx="17220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;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9C2E46-F3DA-9E37-E6A6-5891BEDA5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355" y="3779473"/>
                <a:ext cx="1722074" cy="215444"/>
              </a:xfrm>
              <a:prstGeom prst="rect">
                <a:avLst/>
              </a:prstGeom>
              <a:blipFill>
                <a:blip r:embed="rId5"/>
                <a:stretch>
                  <a:fillRect l="-1773" r="-355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951109-CA3B-CCF1-BD01-08307094ACA4}"/>
                  </a:ext>
                </a:extLst>
              </p:cNvPr>
              <p:cNvSpPr txBox="1"/>
              <p:nvPr/>
            </p:nvSpPr>
            <p:spPr>
              <a:xfrm>
                <a:off x="1226675" y="3994917"/>
                <a:ext cx="6099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951109-CA3B-CCF1-BD01-08307094A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675" y="3994917"/>
                <a:ext cx="609911" cy="215444"/>
              </a:xfrm>
              <a:prstGeom prst="rect">
                <a:avLst/>
              </a:prstGeom>
              <a:blipFill>
                <a:blip r:embed="rId6"/>
                <a:stretch>
                  <a:fillRect l="-3000" r="-1000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6AEA63C-00A4-734A-E356-C07E9D2A1B74}"/>
                  </a:ext>
                </a:extLst>
              </p:cNvPr>
              <p:cNvSpPr txBox="1"/>
              <p:nvPr/>
            </p:nvSpPr>
            <p:spPr>
              <a:xfrm>
                <a:off x="1244455" y="4253228"/>
                <a:ext cx="18431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6AEA63C-00A4-734A-E356-C07E9D2A1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455" y="4253228"/>
                <a:ext cx="1843133" cy="215444"/>
              </a:xfrm>
              <a:prstGeom prst="rect">
                <a:avLst/>
              </a:prstGeom>
              <a:blipFill>
                <a:blip r:embed="rId7"/>
                <a:stretch>
                  <a:fillRect l="-1987" r="-331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8989AC-5351-6C12-1708-02E771DEA392}"/>
                  </a:ext>
                </a:extLst>
              </p:cNvPr>
              <p:cNvSpPr txBox="1"/>
              <p:nvPr/>
            </p:nvSpPr>
            <p:spPr>
              <a:xfrm>
                <a:off x="4572000" y="1873256"/>
                <a:ext cx="3026278" cy="636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𝑚𝑒𝑐ℎ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𝑠ℎ𝑎𝑓𝑡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𝑠ℎ𝑎𝑓𝑡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8989AC-5351-6C12-1708-02E771DEA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873256"/>
                <a:ext cx="3026278" cy="6362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EA4BC-9D61-8F84-123D-1101628DE7C1}"/>
                  </a:ext>
                </a:extLst>
              </p:cNvPr>
              <p:cNvSpPr txBox="1"/>
              <p:nvPr/>
            </p:nvSpPr>
            <p:spPr>
              <a:xfrm>
                <a:off x="5042302" y="3663572"/>
                <a:ext cx="1819921" cy="636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𝑠ℎ𝑎𝑓𝑡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EA4BC-9D61-8F84-123D-1101628DE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2" y="3663572"/>
                <a:ext cx="1819921" cy="6362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4F384D-AE9E-B15B-7732-056507635AD0}"/>
                  </a:ext>
                </a:extLst>
              </p:cNvPr>
              <p:cNvSpPr txBox="1"/>
              <p:nvPr/>
            </p:nvSpPr>
            <p:spPr>
              <a:xfrm>
                <a:off x="3986551" y="2822724"/>
                <a:ext cx="4572000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𝑚𝑒𝑐ℎ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𝐾𝐸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𝑃𝐸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4F384D-AE9E-B15B-7732-056507635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551" y="2822724"/>
                <a:ext cx="4572000" cy="495649"/>
              </a:xfrm>
              <a:prstGeom prst="rect">
                <a:avLst/>
              </a:prstGeom>
              <a:blipFill>
                <a:blip r:embed="rId10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289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5AAD-F9C9-E1BE-0C81-BE85BD39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Energy &amp; General Energy Analysis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E55F2-FAB1-D307-EE67-D0D06B00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DCDCE6-5448-3B95-D6C8-3221F784BBB2}"/>
                  </a:ext>
                </a:extLst>
              </p:cNvPr>
              <p:cNvSpPr txBox="1"/>
              <p:nvPr/>
            </p:nvSpPr>
            <p:spPr>
              <a:xfrm>
                <a:off x="922867" y="2160414"/>
                <a:ext cx="2899255" cy="488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𝑚𝑒𝑐ℎ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𝑚𝑒𝑐ℎ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𝑔𝑧</m:t>
                          </m:r>
                        </m:e>
                      </m:d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DCDCE6-5448-3B95-D6C8-3221F784B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67" y="2160414"/>
                <a:ext cx="2899255" cy="488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661EB-4D2B-13B5-7289-B1414FDE754D}"/>
                  </a:ext>
                </a:extLst>
              </p:cNvPr>
              <p:cNvSpPr txBox="1"/>
              <p:nvPr/>
            </p:nvSpPr>
            <p:spPr>
              <a:xfrm>
                <a:off x="5412721" y="2324476"/>
                <a:ext cx="1759263" cy="414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𝑠𝑦𝑠𝑡𝑒𝑚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661EB-4D2B-13B5-7289-B1414FDE7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721" y="2324476"/>
                <a:ext cx="1759263" cy="414857"/>
              </a:xfrm>
              <a:prstGeom prst="rect">
                <a:avLst/>
              </a:prstGeom>
              <a:blipFill>
                <a:blip r:embed="rId3"/>
                <a:stretch>
                  <a:fillRect l="-1730" r="-346" b="-1470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2819A0-53A0-ECC7-8267-32F2230382A0}"/>
                  </a:ext>
                </a:extLst>
              </p:cNvPr>
              <p:cNvSpPr txBox="1"/>
              <p:nvPr/>
            </p:nvSpPr>
            <p:spPr>
              <a:xfrm>
                <a:off x="5817849" y="3118691"/>
                <a:ext cx="103688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2819A0-53A0-ECC7-8267-32F223038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49" y="3118691"/>
                <a:ext cx="1036887" cy="215444"/>
              </a:xfrm>
              <a:prstGeom prst="rect">
                <a:avLst/>
              </a:prstGeom>
              <a:blipFill>
                <a:blip r:embed="rId4"/>
                <a:stretch>
                  <a:fillRect l="-2941" r="-4706" b="-3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42FC86-2F43-5350-6514-7D171469F2E6}"/>
                  </a:ext>
                </a:extLst>
              </p:cNvPr>
              <p:cNvSpPr txBox="1"/>
              <p:nvPr/>
            </p:nvSpPr>
            <p:spPr>
              <a:xfrm>
                <a:off x="4722120" y="3778783"/>
                <a:ext cx="2395591" cy="4453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𝐸𝑓𝑓𝑖𝑐𝑖𝑒𝑛𝑐𝑦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𝐷𝑒𝑠𝑖𝑟𝑒𝑑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𝑅𝑒𝑞𝑢𝑖𝑟𝑒𝑑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den>
                      </m:f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42FC86-2F43-5350-6514-7D171469F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20" y="3778783"/>
                <a:ext cx="2395591" cy="445315"/>
              </a:xfrm>
              <a:prstGeom prst="rect">
                <a:avLst/>
              </a:prstGeom>
              <a:blipFill>
                <a:blip r:embed="rId5"/>
                <a:stretch>
                  <a:fillRect l="-2036" t="-1370" r="-1527" b="-164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E382C-D42A-1C5C-03DB-3DE80010906D}"/>
                  </a:ext>
                </a:extLst>
              </p:cNvPr>
              <p:cNvSpPr txBox="1"/>
              <p:nvPr/>
            </p:nvSpPr>
            <p:spPr>
              <a:xfrm>
                <a:off x="7315274" y="3729524"/>
                <a:ext cx="754181" cy="439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409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E382C-D42A-1C5C-03DB-3DE800109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74" y="3729524"/>
                <a:ext cx="754181" cy="439672"/>
              </a:xfrm>
              <a:prstGeom prst="rect">
                <a:avLst/>
              </a:prstGeom>
              <a:blipFill>
                <a:blip r:embed="rId6"/>
                <a:stretch>
                  <a:fillRect l="-4032" b="-1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288DA7-32D8-6B90-3F1F-8DDBBF8499D2}"/>
                  </a:ext>
                </a:extLst>
              </p:cNvPr>
              <p:cNvSpPr txBox="1"/>
              <p:nvPr/>
            </p:nvSpPr>
            <p:spPr>
              <a:xfrm>
                <a:off x="2039159" y="1451864"/>
                <a:ext cx="1509580" cy="244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288DA7-32D8-6B90-3F1F-8DDBBF849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59" y="1451864"/>
                <a:ext cx="1509580" cy="244682"/>
              </a:xfrm>
              <a:prstGeom prst="rect">
                <a:avLst/>
              </a:prstGeom>
              <a:blipFill>
                <a:blip r:embed="rId7"/>
                <a:stretch>
                  <a:fillRect l="-1215" t="-2500" b="-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6DD5C9-C472-7078-211C-1D8E6FB5CFB1}"/>
                  </a:ext>
                </a:extLst>
              </p:cNvPr>
              <p:cNvSpPr txBox="1"/>
              <p:nvPr/>
            </p:nvSpPr>
            <p:spPr>
              <a:xfrm>
                <a:off x="5451073" y="1710344"/>
                <a:ext cx="1756763" cy="232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6DD5C9-C472-7078-211C-1D8E6FB5C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073" y="1710344"/>
                <a:ext cx="1756763" cy="232436"/>
              </a:xfrm>
              <a:prstGeom prst="rect">
                <a:avLst/>
              </a:prstGeom>
              <a:blipFill>
                <a:blip r:embed="rId8"/>
                <a:stretch>
                  <a:fillRect l="-1736" r="-347" b="-2368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591D6B-3AA7-9709-7E60-FDF8D918214A}"/>
                  </a:ext>
                </a:extLst>
              </p:cNvPr>
              <p:cNvSpPr txBox="1"/>
              <p:nvPr/>
            </p:nvSpPr>
            <p:spPr>
              <a:xfrm>
                <a:off x="1937279" y="2991463"/>
                <a:ext cx="87043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591D6B-3AA7-9709-7E60-FDF8D9182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279" y="2991463"/>
                <a:ext cx="870430" cy="215444"/>
              </a:xfrm>
              <a:prstGeom prst="rect">
                <a:avLst/>
              </a:prstGeom>
              <a:blipFill>
                <a:blip r:embed="rId9"/>
                <a:stretch>
                  <a:fillRect l="-3497" r="-1399" b="-114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714799-E9A9-4AEA-A8FE-AFE83A1DD6CB}"/>
                  </a:ext>
                </a:extLst>
              </p:cNvPr>
              <p:cNvSpPr txBox="1"/>
              <p:nvPr/>
            </p:nvSpPr>
            <p:spPr>
              <a:xfrm>
                <a:off x="1935878" y="3529720"/>
                <a:ext cx="1005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𝑛𝑇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714799-E9A9-4AEA-A8FE-AFE83A1DD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878" y="3529720"/>
                <a:ext cx="1005981" cy="215444"/>
              </a:xfrm>
              <a:prstGeom prst="rect">
                <a:avLst/>
              </a:prstGeom>
              <a:blipFill>
                <a:blip r:embed="rId10"/>
                <a:stretch>
                  <a:fillRect l="-3030" r="-2424" b="-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AA5012-70F2-7FDE-AF9C-F915372EAF62}"/>
                  </a:ext>
                </a:extLst>
              </p:cNvPr>
              <p:cNvSpPr txBox="1"/>
              <p:nvPr/>
            </p:nvSpPr>
            <p:spPr>
              <a:xfrm>
                <a:off x="1537311" y="3934778"/>
                <a:ext cx="1846083" cy="403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𝑠𝑝𝑟𝑖𝑛𝑔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AA5012-70F2-7FDE-AF9C-F915372E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311" y="3934778"/>
                <a:ext cx="1846083" cy="403316"/>
              </a:xfrm>
              <a:prstGeom prst="rect">
                <a:avLst/>
              </a:prstGeom>
              <a:blipFill>
                <a:blip r:embed="rId11"/>
                <a:stretch>
                  <a:fillRect l="-1980" b="-1194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F2ECECF-A00F-D56D-AF11-90E6C72585A5}"/>
              </a:ext>
            </a:extLst>
          </p:cNvPr>
          <p:cNvSpPr txBox="1"/>
          <p:nvPr/>
        </p:nvSpPr>
        <p:spPr>
          <a:xfrm>
            <a:off x="825501" y="1135270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Mass flow: </a:t>
            </a:r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82386-8A01-6051-4D94-95696401BB1D}"/>
              </a:ext>
            </a:extLst>
          </p:cNvPr>
          <p:cNvSpPr txBox="1"/>
          <p:nvPr/>
        </p:nvSpPr>
        <p:spPr>
          <a:xfrm>
            <a:off x="819795" y="1848481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Mechanical energy: </a:t>
            </a:r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45C1D-4AD5-91E4-AC3C-BD4D010B5ABE}"/>
              </a:ext>
            </a:extLst>
          </p:cNvPr>
          <p:cNvSpPr txBox="1"/>
          <p:nvPr/>
        </p:nvSpPr>
        <p:spPr>
          <a:xfrm>
            <a:off x="819795" y="2684464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work</a:t>
            </a:r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6D646-4D47-D442-8BD1-B234148A9AF5}"/>
              </a:ext>
            </a:extLst>
          </p:cNvPr>
          <p:cNvSpPr txBox="1"/>
          <p:nvPr/>
        </p:nvSpPr>
        <p:spPr>
          <a:xfrm>
            <a:off x="843523" y="3235035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Shaft work</a:t>
            </a:r>
            <a:endParaRPr lang="LID4096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B0F051-EFEB-3C84-4F2B-401D373F9C76}"/>
              </a:ext>
            </a:extLst>
          </p:cNvPr>
          <p:cNvSpPr txBox="1"/>
          <p:nvPr/>
        </p:nvSpPr>
        <p:spPr>
          <a:xfrm>
            <a:off x="879979" y="3766677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Spring work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BC6058-D293-1AAE-2167-3B6B3E2B0E54}"/>
              </a:ext>
            </a:extLst>
          </p:cNvPr>
          <p:cNvSpPr txBox="1"/>
          <p:nvPr/>
        </p:nvSpPr>
        <p:spPr>
          <a:xfrm>
            <a:off x="4732313" y="1337205"/>
            <a:ext cx="15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balance: </a:t>
            </a:r>
            <a:endParaRPr lang="LID4096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D72376-A5D4-9569-47F1-45ED30EFC01E}"/>
              </a:ext>
            </a:extLst>
          </p:cNvPr>
          <p:cNvSpPr txBox="1"/>
          <p:nvPr/>
        </p:nvSpPr>
        <p:spPr>
          <a:xfrm>
            <a:off x="4732313" y="2052164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balance (rate): </a:t>
            </a:r>
            <a:endParaRPr lang="LID4096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3A1961-A77E-C698-07AA-FECBFB6780E7}"/>
              </a:ext>
            </a:extLst>
          </p:cNvPr>
          <p:cNvSpPr txBox="1"/>
          <p:nvPr/>
        </p:nvSpPr>
        <p:spPr>
          <a:xfrm>
            <a:off x="4732312" y="2801708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closed system: 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A58F2-1132-A64F-ACA6-A9FC172FBD64}"/>
              </a:ext>
            </a:extLst>
          </p:cNvPr>
          <p:cNvSpPr txBox="1"/>
          <p:nvPr/>
        </p:nvSpPr>
        <p:spPr>
          <a:xfrm>
            <a:off x="4745015" y="3428240"/>
            <a:ext cx="2563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conversion efficiency: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20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F146-8A56-09F8-AA2C-2CF29B67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BAF8-72C7-523E-7BC4-6BD47DF5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pure substances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2C97-5929-B027-BA14-DA9FFD921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Thermodynamic description of the working fluids: </a:t>
            </a:r>
          </a:p>
          <a:p>
            <a:pPr lvl="1"/>
            <a:r>
              <a:rPr lang="en-US" dirty="0"/>
              <a:t>Water</a:t>
            </a:r>
          </a:p>
          <a:p>
            <a:pPr lvl="1"/>
            <a:r>
              <a:rPr lang="en-US" dirty="0"/>
              <a:t>Refrigerants (Ammonia, R134a, ...)</a:t>
            </a:r>
          </a:p>
          <a:p>
            <a:pPr lvl="1"/>
            <a:r>
              <a:rPr lang="en-US" dirty="0"/>
              <a:t>Gases – (often approximated as </a:t>
            </a:r>
            <a:br>
              <a:rPr lang="en-US" dirty="0"/>
            </a:br>
            <a:r>
              <a:rPr lang="en-US" dirty="0"/>
              <a:t>ideal gases)</a:t>
            </a:r>
          </a:p>
          <a:p>
            <a:pPr lvl="1"/>
            <a:r>
              <a:rPr lang="en-US" dirty="0"/>
              <a:t>Hydrocarbons</a:t>
            </a:r>
          </a:p>
          <a:p>
            <a:r>
              <a:rPr lang="en-US" dirty="0"/>
              <a:t>Studying thermodynamic properties </a:t>
            </a:r>
            <a:br>
              <a:rPr lang="en-US" dirty="0"/>
            </a:br>
            <a:r>
              <a:rPr lang="en-US" dirty="0"/>
              <a:t>of different phases of matter.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4A3FB-C85C-B2F1-F0F5-A3B86E87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6" name="Picture 5" descr="Image of a piston containing a gaseous fluid">
            <a:extLst>
              <a:ext uri="{FF2B5EF4-FFF2-40B4-BE49-F238E27FC236}">
                <a16:creationId xmlns:a16="http://schemas.microsoft.com/office/drawing/2014/main" id="{074CA6F3-EF48-5B91-DB01-DEE935F8D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773" y="1805505"/>
            <a:ext cx="1651347" cy="2172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4AB020-9659-E573-4453-9AB527F38E68}"/>
              </a:ext>
            </a:extLst>
          </p:cNvPr>
          <p:cNvSpPr txBox="1"/>
          <p:nvPr/>
        </p:nvSpPr>
        <p:spPr>
          <a:xfrm>
            <a:off x="6416444" y="2825870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20°C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D2919-8C77-B441-E8AB-AFF6F5AE1308}"/>
              </a:ext>
            </a:extLst>
          </p:cNvPr>
          <p:cNvSpPr txBox="1"/>
          <p:nvPr/>
        </p:nvSpPr>
        <p:spPr>
          <a:xfrm>
            <a:off x="6319074" y="3201116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 = 1.5 m</a:t>
            </a:r>
            <a:r>
              <a:rPr lang="en-US" baseline="30000" dirty="0"/>
              <a:t>3</a:t>
            </a:r>
            <a:r>
              <a:rPr lang="en-US" dirty="0"/>
              <a:t>/kg</a:t>
            </a:r>
            <a:endParaRPr lang="LID4096" baseline="30000" dirty="0"/>
          </a:p>
        </p:txBody>
      </p:sp>
    </p:spTree>
    <p:extLst>
      <p:ext uri="{BB962C8B-B14F-4D97-AF65-F5344CB8AC3E}">
        <p14:creationId xmlns:p14="http://schemas.microsoft.com/office/powerpoint/2010/main" val="3406478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57BE-12C2-EFB3-F663-4D70CA14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substances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65558-8707-57D0-0B7E-DBA5A5302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a fluid with a uniform chemical composition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897DE-F73D-37C1-CFEF-DF66C4D0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7" name="Picture 6" descr="An illustration of Nitrogen and air as pure substances">
            <a:extLst>
              <a:ext uri="{FF2B5EF4-FFF2-40B4-BE49-F238E27FC236}">
                <a16:creationId xmlns:a16="http://schemas.microsoft.com/office/drawing/2014/main" id="{D8A02EAB-413C-47F4-D9CE-749E8A434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538" y="1885800"/>
            <a:ext cx="3238500" cy="1743075"/>
          </a:xfrm>
          <a:prstGeom prst="rect">
            <a:avLst/>
          </a:prstGeom>
        </p:spPr>
      </p:pic>
      <p:pic>
        <p:nvPicPr>
          <p:cNvPr id="9" name="Picture 8" descr="An illustration of Water (Vapor and Liquid), and Air (Gas and LIquid)">
            <a:extLst>
              <a:ext uri="{FF2B5EF4-FFF2-40B4-BE49-F238E27FC236}">
                <a16:creationId xmlns:a16="http://schemas.microsoft.com/office/drawing/2014/main" id="{F7B8D6C8-BF4C-9134-FA80-B61A2D704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50" y="1826745"/>
            <a:ext cx="3286125" cy="2105025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0E8C8402-FB46-9EE7-7579-5338EF415157}"/>
              </a:ext>
            </a:extLst>
          </p:cNvPr>
          <p:cNvSpPr/>
          <p:nvPr/>
        </p:nvSpPr>
        <p:spPr>
          <a:xfrm rot="16200000">
            <a:off x="3508602" y="1640704"/>
            <a:ext cx="359833" cy="4941963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50618C3-C4DE-F55C-DED3-10AB4EBCB63D}"/>
              </a:ext>
            </a:extLst>
          </p:cNvPr>
          <p:cNvSpPr/>
          <p:nvPr/>
        </p:nvSpPr>
        <p:spPr>
          <a:xfrm rot="16200000">
            <a:off x="7056966" y="3219480"/>
            <a:ext cx="359833" cy="17653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FB116-DF0B-BBE7-816E-01CF039BCDB8}"/>
              </a:ext>
            </a:extLst>
          </p:cNvPr>
          <p:cNvSpPr txBox="1"/>
          <p:nvPr/>
        </p:nvSpPr>
        <p:spPr>
          <a:xfrm>
            <a:off x="3441495" y="431687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Yes</a:t>
            </a:r>
            <a:endParaRPr lang="LID4096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CEEC4D-87C8-B4E2-3FA7-ACAE86302E1D}"/>
              </a:ext>
            </a:extLst>
          </p:cNvPr>
          <p:cNvSpPr txBox="1"/>
          <p:nvPr/>
        </p:nvSpPr>
        <p:spPr>
          <a:xfrm>
            <a:off x="6982986" y="42916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No</a:t>
            </a:r>
            <a:endParaRPr lang="LID4096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657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E83A-4EB7-2A98-E1FA-FFF0C485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matter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CBB76-8175-EEA6-085A-0B7827A5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7" name="Picture 6" descr="An illustration of the phases of matter at the microscopic level">
            <a:extLst>
              <a:ext uri="{FF2B5EF4-FFF2-40B4-BE49-F238E27FC236}">
                <a16:creationId xmlns:a16="http://schemas.microsoft.com/office/drawing/2014/main" id="{4EAE125A-C721-BF99-1439-16BD710BC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423" y="1723603"/>
            <a:ext cx="5310116" cy="2114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F441E4-52CC-237F-5C09-E1A2F0A3A9AE}"/>
              </a:ext>
            </a:extLst>
          </p:cNvPr>
          <p:cNvSpPr txBox="1"/>
          <p:nvPr/>
        </p:nvSpPr>
        <p:spPr>
          <a:xfrm>
            <a:off x="2735108" y="1545579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Solid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42B4E-E9BD-7D31-9762-A201330DC6E9}"/>
              </a:ext>
            </a:extLst>
          </p:cNvPr>
          <p:cNvSpPr txBox="1"/>
          <p:nvPr/>
        </p:nvSpPr>
        <p:spPr>
          <a:xfrm>
            <a:off x="4280093" y="1545578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Liquid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491D9-A8A4-31B4-EC00-0C9CBA30D533}"/>
              </a:ext>
            </a:extLst>
          </p:cNvPr>
          <p:cNvSpPr txBox="1"/>
          <p:nvPr/>
        </p:nvSpPr>
        <p:spPr>
          <a:xfrm>
            <a:off x="5986163" y="1545577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A8275D-3EB6-2E35-278E-41400880C6AB}"/>
              </a:ext>
            </a:extLst>
          </p:cNvPr>
          <p:cNvSpPr txBox="1"/>
          <p:nvPr/>
        </p:nvSpPr>
        <p:spPr>
          <a:xfrm>
            <a:off x="5207667" y="1246813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Fluid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8958E-B96E-7C7B-F46B-07A9A48410B3}"/>
              </a:ext>
            </a:extLst>
          </p:cNvPr>
          <p:cNvSpPr txBox="1"/>
          <p:nvPr/>
        </p:nvSpPr>
        <p:spPr>
          <a:xfrm>
            <a:off x="3399724" y="3517709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Melting</a:t>
            </a:r>
          </a:p>
          <a:p>
            <a:pPr algn="ctr"/>
            <a:r>
              <a:rPr lang="en-US" dirty="0"/>
              <a:t>Freezing</a:t>
            </a:r>
            <a:endParaRPr lang="LID4096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60A02-E0CD-F3A5-57A5-DC3F790CA9DE}"/>
              </a:ext>
            </a:extLst>
          </p:cNvPr>
          <p:cNvSpPr txBox="1"/>
          <p:nvPr/>
        </p:nvSpPr>
        <p:spPr>
          <a:xfrm>
            <a:off x="4794123" y="3517709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Vaporizing</a:t>
            </a:r>
          </a:p>
          <a:p>
            <a:pPr algn="ctr"/>
            <a:r>
              <a:rPr lang="en-US" dirty="0"/>
              <a:t>Condensation</a:t>
            </a:r>
            <a:endParaRPr lang="LID4096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86F48-5444-45C8-4DA8-686D91C3C562}"/>
              </a:ext>
            </a:extLst>
          </p:cNvPr>
          <p:cNvSpPr txBox="1"/>
          <p:nvPr/>
        </p:nvSpPr>
        <p:spPr>
          <a:xfrm>
            <a:off x="3431225" y="4053001"/>
            <a:ext cx="2263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Sublimation</a:t>
            </a:r>
          </a:p>
          <a:p>
            <a:pPr algn="ctr"/>
            <a:r>
              <a:rPr lang="en-US" dirty="0"/>
              <a:t>Deposition (resublimation)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40711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illustration of a isobaric heating process of water in a piston">
            <a:extLst>
              <a:ext uri="{FF2B5EF4-FFF2-40B4-BE49-F238E27FC236}">
                <a16:creationId xmlns:a16="http://schemas.microsoft.com/office/drawing/2014/main" id="{63D21F30-5835-9A4B-9018-F0C59B748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451243"/>
            <a:ext cx="7569200" cy="25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8DB2A-D9B1-E5C5-B565-8093707C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change processes of pure substances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BF90-EF08-076B-CFF7-E7F997151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isobaric heating of Water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BC911-81D1-7019-D75E-69926483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96536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756F-2A98-A9E8-FDEE-72687C35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T-v diagram for pure substances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18CB4-2FED-92E7-8A0E-C5C72523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42148-3D05-F507-1715-9AF9516F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11" name="Picture 10" descr="A T-v diagram of a pure substance">
            <a:extLst>
              <a:ext uri="{FF2B5EF4-FFF2-40B4-BE49-F238E27FC236}">
                <a16:creationId xmlns:a16="http://schemas.microsoft.com/office/drawing/2014/main" id="{8ADD6690-B85B-1E17-10F3-FB342569C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649" y="1229624"/>
            <a:ext cx="3916127" cy="34027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9D7C8B-77FB-D153-7600-F1A2404B6CA2}"/>
              </a:ext>
            </a:extLst>
          </p:cNvPr>
          <p:cNvSpPr/>
          <p:nvPr/>
        </p:nvSpPr>
        <p:spPr>
          <a:xfrm>
            <a:off x="3624256" y="4394734"/>
            <a:ext cx="2222500" cy="44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40CA7-827F-57CB-E443-16831EA812E1}"/>
              </a:ext>
            </a:extLst>
          </p:cNvPr>
          <p:cNvSpPr txBox="1"/>
          <p:nvPr/>
        </p:nvSpPr>
        <p:spPr>
          <a:xfrm>
            <a:off x="3355961" y="4492275"/>
            <a:ext cx="2759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T-v diagram of a pure substance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68163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DAAC-FA9F-6469-C8B6-A6860342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P-v diagram for pure substances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E6C9-3628-9A1A-0AD3-70BFB42DD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BA576-85D1-1B26-5D8A-94D6D3E1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  <p:pic>
        <p:nvPicPr>
          <p:cNvPr id="7" name="Picture 6" descr="A T-v diagram of a pure substance">
            <a:extLst>
              <a:ext uri="{FF2B5EF4-FFF2-40B4-BE49-F238E27FC236}">
                <a16:creationId xmlns:a16="http://schemas.microsoft.com/office/drawing/2014/main" id="{2B8B150D-FD9C-F718-9474-C9CB77893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299" y="1245959"/>
            <a:ext cx="3932767" cy="33582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4AE8F7-2FB4-2E53-A9CF-F07FC9C7D0F4}"/>
              </a:ext>
            </a:extLst>
          </p:cNvPr>
          <p:cNvSpPr/>
          <p:nvPr/>
        </p:nvSpPr>
        <p:spPr>
          <a:xfrm>
            <a:off x="3581402" y="4381915"/>
            <a:ext cx="2222500" cy="44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5D41F-E655-4958-EE55-4D431F6639DC}"/>
              </a:ext>
            </a:extLst>
          </p:cNvPr>
          <p:cNvSpPr txBox="1"/>
          <p:nvPr/>
        </p:nvSpPr>
        <p:spPr>
          <a:xfrm>
            <a:off x="3313107" y="4479456"/>
            <a:ext cx="2759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P-v diagram of a pure substance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513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5EC1-F9F0-8A69-7536-35F959EE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AE86-7F4F-87F0-C840-6116D9339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energy analysis of open systems and cycles.</a:t>
            </a:r>
          </a:p>
          <a:p>
            <a:r>
              <a:rPr lang="en-US" dirty="0"/>
              <a:t>Define energy conversion efficiency. </a:t>
            </a:r>
          </a:p>
          <a:p>
            <a:r>
              <a:rPr lang="en-US" dirty="0"/>
              <a:t>Introduced pure substances and respective phase change processes. </a:t>
            </a:r>
          </a:p>
          <a:p>
            <a:endParaRPr lang="LID4096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F445B-C55A-073A-6982-70606DFD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56221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28B5-60C1-C481-21F9-3FF1A4CF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up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225B-8BC2-24AC-264C-90F1363D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Thermodynamic property diagrams for pure substances. </a:t>
            </a:r>
          </a:p>
          <a:p>
            <a:r>
              <a:rPr lang="en-US" dirty="0"/>
              <a:t>Procedures on determining the thermodynamic properties of pure substances. 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2705D-52C0-AEB7-28DD-75439320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C. Hail – ME40 – Fa26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383689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0f00d6-d12c-4739-ada5-45050ca2ba8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d1da92a-2162-418b-a5b1-9913aca16215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13733</TotalTime>
  <Words>1438</Words>
  <Application>Microsoft Office PowerPoint</Application>
  <PresentationFormat>On-screen Show (16:9)</PresentationFormat>
  <Paragraphs>283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Times New Roman</vt:lpstr>
      <vt:lpstr>Cambria Math</vt:lpstr>
      <vt:lpstr>Arial</vt:lpstr>
      <vt:lpstr>Custom Design</vt:lpstr>
      <vt:lpstr>Thermodynamics</vt:lpstr>
      <vt:lpstr>After this lecture</vt:lpstr>
      <vt:lpstr>Learning objectives</vt:lpstr>
      <vt:lpstr>Recap Lecture 2B</vt:lpstr>
      <vt:lpstr>Recap Lecture 2B</vt:lpstr>
      <vt:lpstr>Energy transfer in/out of a closed system</vt:lpstr>
      <vt:lpstr>1st Law of thermodynamics: Example II</vt:lpstr>
      <vt:lpstr>Recap exercise: Isochoric process</vt:lpstr>
      <vt:lpstr>Poll Everywhere multiple choice poll activity
Activity Title: What is the work extracted during a process of isochoric heating in a cylinder from state 1 to state 2:
Slide 9</vt:lpstr>
      <vt:lpstr>1st Law of thermodynamics: Open system</vt:lpstr>
      <vt:lpstr>Energy analysis of thermodynamic cycles</vt:lpstr>
      <vt:lpstr>Energy analysis of thermodynamic cycles</vt:lpstr>
      <vt:lpstr>Energy conversion efficiencies (I)</vt:lpstr>
      <vt:lpstr>Energy conversion efficiencies (II)</vt:lpstr>
      <vt:lpstr>Energy conversion efficiencies (III)</vt:lpstr>
      <vt:lpstr>Energy conversion efficiencies</vt:lpstr>
      <vt:lpstr>Group Work: in groups of 2; solve  the following problem.</vt:lpstr>
      <vt:lpstr>Poll Everywhere free text poll activity
Activity Title: What is the efficiency of this device? Give a formula and value.
Slide 13</vt:lpstr>
      <vt:lpstr>Group Work: in groups of 2; solve  the following problem.</vt:lpstr>
      <vt:lpstr>Summary: Energy &amp; General Energy Analysis</vt:lpstr>
      <vt:lpstr>Properties of pure substances</vt:lpstr>
      <vt:lpstr>Pure substances</vt:lpstr>
      <vt:lpstr>Phases of matter</vt:lpstr>
      <vt:lpstr>Phase change processes of pure substances</vt:lpstr>
      <vt:lpstr>T-v diagram for pure substances</vt:lpstr>
      <vt:lpstr>P-v diagram for pure substances</vt:lpstr>
      <vt:lpstr>Summary</vt:lpstr>
      <vt:lpstr>Next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Notes 2C</dc:title>
  <dc:creator>Clau Dio</dc:creator>
  <cp:lastModifiedBy>Claudio Hail</cp:lastModifiedBy>
  <cp:revision>705</cp:revision>
  <cp:lastPrinted>2025-01-31T23:26:39Z</cp:lastPrinted>
  <dcterms:modified xsi:type="dcterms:W3CDTF">2026-09-04T20:36:16Z</dcterms:modified>
</cp:coreProperties>
</file>